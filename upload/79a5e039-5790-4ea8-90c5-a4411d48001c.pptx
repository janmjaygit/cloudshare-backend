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4"/>
  </p:notesMasterIdLst>
  <p:sldIdLst>
    <p:sldId id="256" r:id="rId2"/>
    <p:sldId id="315" r:id="rId3"/>
    <p:sldId id="316" r:id="rId4"/>
    <p:sldId id="317" r:id="rId5"/>
    <p:sldId id="318" r:id="rId6"/>
    <p:sldId id="319" r:id="rId7"/>
    <p:sldId id="320" r:id="rId8"/>
    <p:sldId id="321" r:id="rId9"/>
    <p:sldId id="322" r:id="rId10"/>
    <p:sldId id="324" r:id="rId11"/>
    <p:sldId id="325" r:id="rId12"/>
    <p:sldId id="305" r:id="rId13"/>
  </p:sldIdLst>
  <p:sldSz cx="14630400" cy="8229600"/>
  <p:notesSz cx="6858000" cy="9144000"/>
  <p:embeddedFontLst>
    <p:embeddedFont>
      <p:font typeface="Cambria" panose="02040503050406030204" pitchFamily="18" charset="0"/>
      <p:regular r:id="rId15"/>
      <p:bold r:id="rId16"/>
      <p:italic r:id="rId17"/>
      <p:boldItalic r:id="rId18"/>
    </p:embeddedFont>
    <p:embeddedFont>
      <p:font typeface="Lato" panose="020F0502020204030203" pitchFamily="34" charset="0"/>
      <p:regular r:id="rId19"/>
      <p:bold r:id="rId20"/>
      <p:italic r:id="rId21"/>
      <p:boldItalic r:id="rId22"/>
    </p:embeddedFont>
    <p:embeddedFont>
      <p:font typeface="Vladimir Script" panose="03050402040407070305" pitchFamily="66" charset="77"/>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92" userDrawn="1">
          <p15:clr>
            <a:srgbClr val="747775"/>
          </p15:clr>
        </p15:guide>
        <p15:guide id="2" pos="4608" userDrawn="1">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3"/>
  </p:normalViewPr>
  <p:slideViewPr>
    <p:cSldViewPr snapToGrid="0">
      <p:cViewPr varScale="1">
        <p:scale>
          <a:sx n="108" d="100"/>
          <a:sy n="108" d="100"/>
        </p:scale>
        <p:origin x="488" y="208"/>
      </p:cViewPr>
      <p:guideLst>
        <p:guide orient="horz" pos="2592"/>
        <p:guide pos="46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51"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1EAA92E-7670-3BE8-2384-ABA3B66DE74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1856FAD-6AC0-51E0-1330-9898226E70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4D9658D-6240-8872-2430-FA9A40A419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376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ACAFCC7-2E91-24BD-B46F-5F5AAFA2E8B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DCF060F-B5FB-EF0D-9CC1-C25F78A348B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4319F9F-2701-FF82-8309-E8AF65D7D1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6279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72C56AE-B27E-B563-B6D8-E124FD7D0AE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8301AEF-AD55-A828-3B78-1505B954A0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9C90EF5-6771-2E35-983C-1B3F184C98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088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6F86E39-AB87-C4A4-B02A-CEECABEBFB1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D496590-5857-FA19-0937-A0AC22A789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FF1936D-F73E-D11C-8435-B965E2EC75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3856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EA47F27-88A5-0B39-1908-BC2A2A4433A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C519517-AB29-8FB5-FE31-A66449034F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3B8873E-62A1-6B19-A6B0-6E7D2B03E3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4512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D528C2A-737D-8FBE-424C-57DA1222B1D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1289B0A-E992-B700-B72B-DB5F560569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7E4A0A7-9F4E-1062-FA6F-AA6DAC296A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9246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9473B30-467F-5538-4AA6-1886B6241A4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37FC810-6D0C-C040-9CEB-30160B9D16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858C507-8C98-A2DC-4E00-DF35B22243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7807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15B7B6F-D103-D4CC-B863-D034EC61C2F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7C319D0-9F16-EF40-D0CA-24FE0797D6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D2CC634-8CA0-85DA-7F33-6FE6096512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8121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44367D5-3BB3-665D-D99D-158B3D3B106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87777A-075B-3600-C1EC-17DF991B61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0F78369-3AF0-D18C-DCEA-D11F5F3A39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452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1463040" y="2103120"/>
            <a:ext cx="12801600" cy="5395200"/>
          </a:xfrm>
          <a:prstGeom prst="rect">
            <a:avLst/>
          </a:prstGeom>
          <a:noFill/>
          <a:ln>
            <a:noFill/>
          </a:ln>
        </p:spPr>
        <p:txBody>
          <a:bodyPr spcFirstLastPara="1" wrap="square" lIns="91425" tIns="45700" rIns="91425" bIns="45700" anchor="t" anchorCtr="0">
            <a:normAutofit/>
          </a:bodyPr>
          <a:lstStyle>
            <a:lvl1pPr marL="731520" marR="0" lvl="0" indent="-609600" algn="l">
              <a:lnSpc>
                <a:spcPct val="115000"/>
              </a:lnSpc>
              <a:spcBef>
                <a:spcPts val="768"/>
              </a:spcBef>
              <a:spcAft>
                <a:spcPts val="0"/>
              </a:spcAft>
              <a:buClr>
                <a:schemeClr val="dk1"/>
              </a:buClr>
              <a:buSzPts val="2400"/>
              <a:buFont typeface="Arial"/>
              <a:buChar char="•"/>
              <a:defRPr sz="3840" b="0" i="0" u="none" strike="noStrike" cap="none">
                <a:solidFill>
                  <a:schemeClr val="dk1"/>
                </a:solidFill>
                <a:latin typeface="Cambria"/>
                <a:ea typeface="Cambria"/>
                <a:cs typeface="Cambria"/>
                <a:sym typeface="Cambria"/>
              </a:defRPr>
            </a:lvl1pPr>
            <a:lvl2pPr marL="1463040" marR="0" lvl="1" indent="-568960" algn="l">
              <a:lnSpc>
                <a:spcPct val="115000"/>
              </a:lnSpc>
              <a:spcBef>
                <a:spcPts val="64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2pPr>
            <a:lvl3pPr marL="2194560" marR="0" lvl="2" indent="-568960" algn="l">
              <a:lnSpc>
                <a:spcPct val="115000"/>
              </a:lnSpc>
              <a:spcBef>
                <a:spcPts val="64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3pPr>
            <a:lvl4pPr marL="2926080" marR="0" lvl="3" indent="-548640" algn="l">
              <a:lnSpc>
                <a:spcPct val="115000"/>
              </a:lnSpc>
              <a:spcBef>
                <a:spcPts val="576"/>
              </a:spcBef>
              <a:spcAft>
                <a:spcPts val="0"/>
              </a:spcAft>
              <a:buClr>
                <a:schemeClr val="dk1"/>
              </a:buClr>
              <a:buSzPts val="1800"/>
              <a:buFont typeface="Arial"/>
              <a:buChar char="–"/>
              <a:defRPr sz="2880" b="0" i="0" u="none" strike="noStrike" cap="none">
                <a:solidFill>
                  <a:schemeClr val="dk1"/>
                </a:solidFill>
                <a:latin typeface="Calibri"/>
                <a:ea typeface="Calibri"/>
                <a:cs typeface="Calibri"/>
                <a:sym typeface="Calibri"/>
              </a:defRPr>
            </a:lvl4pPr>
            <a:lvl5pPr marL="3657600" marR="0" lvl="4" indent="-548640" algn="l">
              <a:lnSpc>
                <a:spcPct val="115000"/>
              </a:lnSpc>
              <a:spcBef>
                <a:spcPts val="576"/>
              </a:spcBef>
              <a:spcAft>
                <a:spcPts val="0"/>
              </a:spcAft>
              <a:buClr>
                <a:schemeClr val="dk1"/>
              </a:buClr>
              <a:buSzPts val="1800"/>
              <a:buFont typeface="Arial"/>
              <a:buChar char="»"/>
              <a:defRPr sz="2880" b="0" i="0" u="none" strike="noStrike" cap="none">
                <a:solidFill>
                  <a:schemeClr val="dk1"/>
                </a:solidFill>
                <a:latin typeface="Calibri"/>
                <a:ea typeface="Calibri"/>
                <a:cs typeface="Calibri"/>
                <a:sym typeface="Calibri"/>
              </a:defRPr>
            </a:lvl5pPr>
            <a:lvl6pPr marL="4389120" marR="0" lvl="5" indent="-568960" algn="l">
              <a:lnSpc>
                <a:spcPct val="115000"/>
              </a:lnSpc>
              <a:spcBef>
                <a:spcPts val="64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6pPr>
            <a:lvl7pPr marL="5120640" marR="0" lvl="6" indent="-568960" algn="l">
              <a:lnSpc>
                <a:spcPct val="115000"/>
              </a:lnSpc>
              <a:spcBef>
                <a:spcPts val="192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7pPr>
            <a:lvl8pPr marL="5852160" marR="0" lvl="7" indent="-568960" algn="l">
              <a:lnSpc>
                <a:spcPct val="115000"/>
              </a:lnSpc>
              <a:spcBef>
                <a:spcPts val="1920"/>
              </a:spcBef>
              <a:spcAft>
                <a:spcPts val="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8pPr>
            <a:lvl9pPr marL="6583680" marR="0" lvl="8" indent="-568960" algn="l">
              <a:lnSpc>
                <a:spcPct val="115000"/>
              </a:lnSpc>
              <a:spcBef>
                <a:spcPts val="1920"/>
              </a:spcBef>
              <a:spcAft>
                <a:spcPts val="1920"/>
              </a:spcAft>
              <a:buClr>
                <a:schemeClr val="dk1"/>
              </a:buClr>
              <a:buSzPts val="2000"/>
              <a:buFont typeface="Arial"/>
              <a:buChar char="•"/>
              <a:defRPr sz="32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49450" y="35255"/>
            <a:ext cx="1043698" cy="167832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31"/>
          <p:cNvSpPr/>
          <p:nvPr/>
        </p:nvSpPr>
        <p:spPr>
          <a:xfrm>
            <a:off x="0" y="0"/>
            <a:ext cx="14630400" cy="780480"/>
          </a:xfrm>
          <a:prstGeom prst="rect">
            <a:avLst/>
          </a:prstGeom>
          <a:solidFill>
            <a:schemeClr val="lt1"/>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1328628" y="1906009"/>
            <a:ext cx="1193221" cy="73322"/>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1167120" y="2115920"/>
            <a:ext cx="12300960" cy="26635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6720"/>
            </a:lvl1pPr>
            <a:lvl2pPr lvl="1" algn="l">
              <a:lnSpc>
                <a:spcPct val="100000"/>
              </a:lnSpc>
              <a:spcBef>
                <a:spcPts val="0"/>
              </a:spcBef>
              <a:spcAft>
                <a:spcPts val="0"/>
              </a:spcAft>
              <a:buSzPts val="4200"/>
              <a:buNone/>
              <a:defRPr sz="6720"/>
            </a:lvl2pPr>
            <a:lvl3pPr lvl="2" algn="l">
              <a:lnSpc>
                <a:spcPct val="100000"/>
              </a:lnSpc>
              <a:spcBef>
                <a:spcPts val="0"/>
              </a:spcBef>
              <a:spcAft>
                <a:spcPts val="0"/>
              </a:spcAft>
              <a:buSzPts val="4200"/>
              <a:buNone/>
              <a:defRPr sz="6720"/>
            </a:lvl3pPr>
            <a:lvl4pPr lvl="3" algn="l">
              <a:lnSpc>
                <a:spcPct val="100000"/>
              </a:lnSpc>
              <a:spcBef>
                <a:spcPts val="0"/>
              </a:spcBef>
              <a:spcAft>
                <a:spcPts val="0"/>
              </a:spcAft>
              <a:buSzPts val="4200"/>
              <a:buNone/>
              <a:defRPr sz="6720"/>
            </a:lvl4pPr>
            <a:lvl5pPr lvl="4" algn="l">
              <a:lnSpc>
                <a:spcPct val="100000"/>
              </a:lnSpc>
              <a:spcBef>
                <a:spcPts val="0"/>
              </a:spcBef>
              <a:spcAft>
                <a:spcPts val="0"/>
              </a:spcAft>
              <a:buSzPts val="4200"/>
              <a:buNone/>
              <a:defRPr sz="6720"/>
            </a:lvl5pPr>
            <a:lvl6pPr lvl="5" algn="l">
              <a:lnSpc>
                <a:spcPct val="100000"/>
              </a:lnSpc>
              <a:spcBef>
                <a:spcPts val="0"/>
              </a:spcBef>
              <a:spcAft>
                <a:spcPts val="0"/>
              </a:spcAft>
              <a:buSzPts val="4200"/>
              <a:buNone/>
              <a:defRPr sz="6720"/>
            </a:lvl6pPr>
            <a:lvl7pPr lvl="6" algn="l">
              <a:lnSpc>
                <a:spcPct val="100000"/>
              </a:lnSpc>
              <a:spcBef>
                <a:spcPts val="0"/>
              </a:spcBef>
              <a:spcAft>
                <a:spcPts val="0"/>
              </a:spcAft>
              <a:buSzPts val="4200"/>
              <a:buNone/>
              <a:defRPr sz="6720"/>
            </a:lvl7pPr>
            <a:lvl8pPr lvl="7" algn="l">
              <a:lnSpc>
                <a:spcPct val="100000"/>
              </a:lnSpc>
              <a:spcBef>
                <a:spcPts val="0"/>
              </a:spcBef>
              <a:spcAft>
                <a:spcPts val="0"/>
              </a:spcAft>
              <a:buSzPts val="4200"/>
              <a:buNone/>
              <a:defRPr sz="6720"/>
            </a:lvl8pPr>
            <a:lvl9pPr lvl="8" algn="l">
              <a:lnSpc>
                <a:spcPct val="100000"/>
              </a:lnSpc>
              <a:spcBef>
                <a:spcPts val="0"/>
              </a:spcBef>
              <a:spcAft>
                <a:spcPts val="0"/>
              </a:spcAft>
              <a:buSzPts val="4200"/>
              <a:buNone/>
              <a:defRPr sz="6720"/>
            </a:lvl9pPr>
          </a:lstStyle>
          <a:p>
            <a:endParaRPr/>
          </a:p>
        </p:txBody>
      </p:sp>
      <p:sp>
        <p:nvSpPr>
          <p:cNvPr id="22" name="Google Shape;22;p31"/>
          <p:cNvSpPr txBox="1">
            <a:spLocks noGrp="1"/>
          </p:cNvSpPr>
          <p:nvPr>
            <p:ph type="subTitle" idx="1"/>
          </p:nvPr>
        </p:nvSpPr>
        <p:spPr>
          <a:xfrm>
            <a:off x="1167403" y="5076640"/>
            <a:ext cx="12300960" cy="8659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2560"/>
            </a:lvl1pPr>
            <a:lvl2pPr lvl="1" algn="l">
              <a:lnSpc>
                <a:spcPct val="100000"/>
              </a:lnSpc>
              <a:spcBef>
                <a:spcPts val="0"/>
              </a:spcBef>
              <a:spcAft>
                <a:spcPts val="0"/>
              </a:spcAft>
              <a:buSzPts val="1600"/>
              <a:buNone/>
              <a:defRPr sz="2560"/>
            </a:lvl2pPr>
            <a:lvl3pPr lvl="2" algn="l">
              <a:lnSpc>
                <a:spcPct val="100000"/>
              </a:lnSpc>
              <a:spcBef>
                <a:spcPts val="0"/>
              </a:spcBef>
              <a:spcAft>
                <a:spcPts val="0"/>
              </a:spcAft>
              <a:buSzPts val="1600"/>
              <a:buNone/>
              <a:defRPr sz="2560"/>
            </a:lvl3pPr>
            <a:lvl4pPr lvl="3" algn="l">
              <a:lnSpc>
                <a:spcPct val="100000"/>
              </a:lnSpc>
              <a:spcBef>
                <a:spcPts val="0"/>
              </a:spcBef>
              <a:spcAft>
                <a:spcPts val="0"/>
              </a:spcAft>
              <a:buSzPts val="1600"/>
              <a:buNone/>
              <a:defRPr sz="2560"/>
            </a:lvl4pPr>
            <a:lvl5pPr lvl="4" algn="l">
              <a:lnSpc>
                <a:spcPct val="100000"/>
              </a:lnSpc>
              <a:spcBef>
                <a:spcPts val="0"/>
              </a:spcBef>
              <a:spcAft>
                <a:spcPts val="0"/>
              </a:spcAft>
              <a:buSzPts val="1600"/>
              <a:buNone/>
              <a:defRPr sz="2560"/>
            </a:lvl5pPr>
            <a:lvl6pPr lvl="5" algn="l">
              <a:lnSpc>
                <a:spcPct val="100000"/>
              </a:lnSpc>
              <a:spcBef>
                <a:spcPts val="0"/>
              </a:spcBef>
              <a:spcAft>
                <a:spcPts val="0"/>
              </a:spcAft>
              <a:buSzPts val="1600"/>
              <a:buNone/>
              <a:defRPr sz="2560"/>
            </a:lvl6pPr>
            <a:lvl7pPr lvl="6" algn="l">
              <a:lnSpc>
                <a:spcPct val="100000"/>
              </a:lnSpc>
              <a:spcBef>
                <a:spcPts val="0"/>
              </a:spcBef>
              <a:spcAft>
                <a:spcPts val="0"/>
              </a:spcAft>
              <a:buSzPts val="1600"/>
              <a:buNone/>
              <a:defRPr sz="2560"/>
            </a:lvl7pPr>
            <a:lvl8pPr lvl="7" algn="l">
              <a:lnSpc>
                <a:spcPct val="100000"/>
              </a:lnSpc>
              <a:spcBef>
                <a:spcPts val="0"/>
              </a:spcBef>
              <a:spcAft>
                <a:spcPts val="0"/>
              </a:spcAft>
              <a:buSzPts val="1600"/>
              <a:buNone/>
              <a:defRPr sz="2560"/>
            </a:lvl8pPr>
            <a:lvl9pPr lvl="8" algn="l">
              <a:lnSpc>
                <a:spcPct val="100000"/>
              </a:lnSpc>
              <a:spcBef>
                <a:spcPts val="0"/>
              </a:spcBef>
              <a:spcAft>
                <a:spcPts val="0"/>
              </a:spcAft>
              <a:buSzPts val="1600"/>
              <a:buNone/>
              <a:defRPr sz="2560"/>
            </a:lvl9pPr>
          </a:lstStyle>
          <a:p>
            <a:endParaRPr/>
          </a:p>
        </p:txBody>
      </p:sp>
      <p:sp>
        <p:nvSpPr>
          <p:cNvPr id="23" name="Google Shape;23;p31"/>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498720" y="712040"/>
            <a:ext cx="13632960" cy="91632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grpSp>
        <p:nvGrpSpPr>
          <p:cNvPr id="25" name="Google Shape;25;p32"/>
          <p:cNvGrpSpPr/>
          <p:nvPr/>
        </p:nvGrpSpPr>
        <p:grpSpPr>
          <a:xfrm>
            <a:off x="1328628" y="1906009"/>
            <a:ext cx="1193221" cy="73322"/>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1167120" y="2115920"/>
            <a:ext cx="12301440" cy="242976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5760">
                <a:solidFill>
                  <a:schemeClr val="lt1"/>
                </a:solidFill>
              </a:defRPr>
            </a:lvl1pPr>
            <a:lvl2pPr lvl="1" algn="l">
              <a:lnSpc>
                <a:spcPct val="100000"/>
              </a:lnSpc>
              <a:spcBef>
                <a:spcPts val="0"/>
              </a:spcBef>
              <a:spcAft>
                <a:spcPts val="0"/>
              </a:spcAft>
              <a:buClr>
                <a:schemeClr val="lt1"/>
              </a:buClr>
              <a:buSzPts val="3600"/>
              <a:buNone/>
              <a:defRPr sz="5760">
                <a:solidFill>
                  <a:schemeClr val="lt1"/>
                </a:solidFill>
              </a:defRPr>
            </a:lvl2pPr>
            <a:lvl3pPr lvl="2" algn="l">
              <a:lnSpc>
                <a:spcPct val="100000"/>
              </a:lnSpc>
              <a:spcBef>
                <a:spcPts val="0"/>
              </a:spcBef>
              <a:spcAft>
                <a:spcPts val="0"/>
              </a:spcAft>
              <a:buClr>
                <a:schemeClr val="lt1"/>
              </a:buClr>
              <a:buSzPts val="3600"/>
              <a:buNone/>
              <a:defRPr sz="5760">
                <a:solidFill>
                  <a:schemeClr val="lt1"/>
                </a:solidFill>
              </a:defRPr>
            </a:lvl3pPr>
            <a:lvl4pPr lvl="3" algn="l">
              <a:lnSpc>
                <a:spcPct val="100000"/>
              </a:lnSpc>
              <a:spcBef>
                <a:spcPts val="0"/>
              </a:spcBef>
              <a:spcAft>
                <a:spcPts val="0"/>
              </a:spcAft>
              <a:buClr>
                <a:schemeClr val="lt1"/>
              </a:buClr>
              <a:buSzPts val="3600"/>
              <a:buNone/>
              <a:defRPr sz="5760">
                <a:solidFill>
                  <a:schemeClr val="lt1"/>
                </a:solidFill>
              </a:defRPr>
            </a:lvl4pPr>
            <a:lvl5pPr lvl="4" algn="l">
              <a:lnSpc>
                <a:spcPct val="100000"/>
              </a:lnSpc>
              <a:spcBef>
                <a:spcPts val="0"/>
              </a:spcBef>
              <a:spcAft>
                <a:spcPts val="0"/>
              </a:spcAft>
              <a:buClr>
                <a:schemeClr val="lt1"/>
              </a:buClr>
              <a:buSzPts val="3600"/>
              <a:buNone/>
              <a:defRPr sz="5760">
                <a:solidFill>
                  <a:schemeClr val="lt1"/>
                </a:solidFill>
              </a:defRPr>
            </a:lvl5pPr>
            <a:lvl6pPr lvl="5" algn="l">
              <a:lnSpc>
                <a:spcPct val="100000"/>
              </a:lnSpc>
              <a:spcBef>
                <a:spcPts val="0"/>
              </a:spcBef>
              <a:spcAft>
                <a:spcPts val="0"/>
              </a:spcAft>
              <a:buClr>
                <a:schemeClr val="lt1"/>
              </a:buClr>
              <a:buSzPts val="3600"/>
              <a:buNone/>
              <a:defRPr sz="5760">
                <a:solidFill>
                  <a:schemeClr val="lt1"/>
                </a:solidFill>
              </a:defRPr>
            </a:lvl6pPr>
            <a:lvl7pPr lvl="6" algn="l">
              <a:lnSpc>
                <a:spcPct val="100000"/>
              </a:lnSpc>
              <a:spcBef>
                <a:spcPts val="0"/>
              </a:spcBef>
              <a:spcAft>
                <a:spcPts val="0"/>
              </a:spcAft>
              <a:buClr>
                <a:schemeClr val="lt1"/>
              </a:buClr>
              <a:buSzPts val="3600"/>
              <a:buNone/>
              <a:defRPr sz="5760">
                <a:solidFill>
                  <a:schemeClr val="lt1"/>
                </a:solidFill>
              </a:defRPr>
            </a:lvl7pPr>
            <a:lvl8pPr lvl="7" algn="l">
              <a:lnSpc>
                <a:spcPct val="100000"/>
              </a:lnSpc>
              <a:spcBef>
                <a:spcPts val="0"/>
              </a:spcBef>
              <a:spcAft>
                <a:spcPts val="0"/>
              </a:spcAft>
              <a:buClr>
                <a:schemeClr val="lt1"/>
              </a:buClr>
              <a:buSzPts val="3600"/>
              <a:buNone/>
              <a:defRPr sz="5760">
                <a:solidFill>
                  <a:schemeClr val="lt1"/>
                </a:solidFill>
              </a:defRPr>
            </a:lvl8pPr>
            <a:lvl9pPr lvl="8" algn="l">
              <a:lnSpc>
                <a:spcPct val="100000"/>
              </a:lnSpc>
              <a:spcBef>
                <a:spcPts val="0"/>
              </a:spcBef>
              <a:spcAft>
                <a:spcPts val="0"/>
              </a:spcAft>
              <a:buClr>
                <a:schemeClr val="lt1"/>
              </a:buClr>
              <a:buSzPts val="3600"/>
              <a:buNone/>
              <a:defRPr sz="5760">
                <a:solidFill>
                  <a:schemeClr val="lt1"/>
                </a:solidFill>
              </a:defRPr>
            </a:lvl9pPr>
          </a:lstStyle>
          <a:p>
            <a:endParaRPr/>
          </a:p>
        </p:txBody>
      </p:sp>
      <p:sp>
        <p:nvSpPr>
          <p:cNvPr id="29" name="Google Shape;29;p32"/>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14630400" cy="78048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1328628" y="1906009"/>
            <a:ext cx="1193221" cy="73322"/>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1167120" y="2109840"/>
            <a:ext cx="12301920" cy="8563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36" name="Google Shape;36;p33"/>
          <p:cNvSpPr txBox="1">
            <a:spLocks noGrp="1"/>
          </p:cNvSpPr>
          <p:nvPr>
            <p:ph type="body" idx="1"/>
          </p:nvPr>
        </p:nvSpPr>
        <p:spPr>
          <a:xfrm>
            <a:off x="1167120" y="3326200"/>
            <a:ext cx="12301920" cy="361776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14630400" cy="78048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1328628" y="1906009"/>
            <a:ext cx="1193221" cy="73322"/>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1167120" y="2109840"/>
            <a:ext cx="12301440" cy="8563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44" name="Google Shape;44;p34"/>
          <p:cNvSpPr txBox="1">
            <a:spLocks noGrp="1"/>
          </p:cNvSpPr>
          <p:nvPr>
            <p:ph type="body" idx="1"/>
          </p:nvPr>
        </p:nvSpPr>
        <p:spPr>
          <a:xfrm>
            <a:off x="1166920" y="3326200"/>
            <a:ext cx="6038880" cy="361776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7429766" y="3326200"/>
            <a:ext cx="6038880" cy="361776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14630400" cy="78048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1328628" y="1906009"/>
            <a:ext cx="1193221" cy="73322"/>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1167120" y="2109840"/>
            <a:ext cx="12301440" cy="8563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53" name="Google Shape;53;p35"/>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14630400" cy="78048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1328628" y="1906009"/>
            <a:ext cx="1193221" cy="73322"/>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1168000" y="2109840"/>
            <a:ext cx="5281440" cy="2210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60" name="Google Shape;60;p36"/>
          <p:cNvSpPr txBox="1">
            <a:spLocks noGrp="1"/>
          </p:cNvSpPr>
          <p:nvPr>
            <p:ph type="body" idx="1"/>
          </p:nvPr>
        </p:nvSpPr>
        <p:spPr>
          <a:xfrm>
            <a:off x="1153960" y="4450760"/>
            <a:ext cx="5281440" cy="255600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2"/>
        <p:cNvGrpSpPr/>
        <p:nvPr/>
      </p:nvGrpSpPr>
      <p:grpSpPr>
        <a:xfrm>
          <a:off x="0" y="0"/>
          <a:ext cx="0" cy="0"/>
          <a:chOff x="0" y="0"/>
          <a:chExt cx="0" cy="0"/>
        </a:xfrm>
      </p:grpSpPr>
      <p:grpSp>
        <p:nvGrpSpPr>
          <p:cNvPr id="63" name="Google Shape;63;p37"/>
          <p:cNvGrpSpPr/>
          <p:nvPr/>
        </p:nvGrpSpPr>
        <p:grpSpPr>
          <a:xfrm>
            <a:off x="1328628" y="6670608"/>
            <a:ext cx="1193221" cy="73322"/>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1167120" y="1382880"/>
            <a:ext cx="11233920" cy="4776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5760">
                <a:solidFill>
                  <a:schemeClr val="lt1"/>
                </a:solidFill>
              </a:defRPr>
            </a:lvl1pPr>
            <a:lvl2pPr lvl="1" algn="l">
              <a:lnSpc>
                <a:spcPct val="100000"/>
              </a:lnSpc>
              <a:spcBef>
                <a:spcPts val="0"/>
              </a:spcBef>
              <a:spcAft>
                <a:spcPts val="0"/>
              </a:spcAft>
              <a:buClr>
                <a:schemeClr val="lt1"/>
              </a:buClr>
              <a:buSzPts val="3600"/>
              <a:buNone/>
              <a:defRPr sz="5760">
                <a:solidFill>
                  <a:schemeClr val="lt1"/>
                </a:solidFill>
              </a:defRPr>
            </a:lvl2pPr>
            <a:lvl3pPr lvl="2" algn="l">
              <a:lnSpc>
                <a:spcPct val="100000"/>
              </a:lnSpc>
              <a:spcBef>
                <a:spcPts val="0"/>
              </a:spcBef>
              <a:spcAft>
                <a:spcPts val="0"/>
              </a:spcAft>
              <a:buClr>
                <a:schemeClr val="lt1"/>
              </a:buClr>
              <a:buSzPts val="3600"/>
              <a:buNone/>
              <a:defRPr sz="5760">
                <a:solidFill>
                  <a:schemeClr val="lt1"/>
                </a:solidFill>
              </a:defRPr>
            </a:lvl3pPr>
            <a:lvl4pPr lvl="3" algn="l">
              <a:lnSpc>
                <a:spcPct val="100000"/>
              </a:lnSpc>
              <a:spcBef>
                <a:spcPts val="0"/>
              </a:spcBef>
              <a:spcAft>
                <a:spcPts val="0"/>
              </a:spcAft>
              <a:buClr>
                <a:schemeClr val="lt1"/>
              </a:buClr>
              <a:buSzPts val="3600"/>
              <a:buNone/>
              <a:defRPr sz="5760">
                <a:solidFill>
                  <a:schemeClr val="lt1"/>
                </a:solidFill>
              </a:defRPr>
            </a:lvl4pPr>
            <a:lvl5pPr lvl="4" algn="l">
              <a:lnSpc>
                <a:spcPct val="100000"/>
              </a:lnSpc>
              <a:spcBef>
                <a:spcPts val="0"/>
              </a:spcBef>
              <a:spcAft>
                <a:spcPts val="0"/>
              </a:spcAft>
              <a:buClr>
                <a:schemeClr val="lt1"/>
              </a:buClr>
              <a:buSzPts val="3600"/>
              <a:buNone/>
              <a:defRPr sz="5760">
                <a:solidFill>
                  <a:schemeClr val="lt1"/>
                </a:solidFill>
              </a:defRPr>
            </a:lvl5pPr>
            <a:lvl6pPr lvl="5" algn="l">
              <a:lnSpc>
                <a:spcPct val="100000"/>
              </a:lnSpc>
              <a:spcBef>
                <a:spcPts val="0"/>
              </a:spcBef>
              <a:spcAft>
                <a:spcPts val="0"/>
              </a:spcAft>
              <a:buClr>
                <a:schemeClr val="lt1"/>
              </a:buClr>
              <a:buSzPts val="3600"/>
              <a:buNone/>
              <a:defRPr sz="5760">
                <a:solidFill>
                  <a:schemeClr val="lt1"/>
                </a:solidFill>
              </a:defRPr>
            </a:lvl6pPr>
            <a:lvl7pPr lvl="6" algn="l">
              <a:lnSpc>
                <a:spcPct val="100000"/>
              </a:lnSpc>
              <a:spcBef>
                <a:spcPts val="0"/>
              </a:spcBef>
              <a:spcAft>
                <a:spcPts val="0"/>
              </a:spcAft>
              <a:buClr>
                <a:schemeClr val="lt1"/>
              </a:buClr>
              <a:buSzPts val="3600"/>
              <a:buNone/>
              <a:defRPr sz="5760">
                <a:solidFill>
                  <a:schemeClr val="lt1"/>
                </a:solidFill>
              </a:defRPr>
            </a:lvl7pPr>
            <a:lvl8pPr lvl="7" algn="l">
              <a:lnSpc>
                <a:spcPct val="100000"/>
              </a:lnSpc>
              <a:spcBef>
                <a:spcPts val="0"/>
              </a:spcBef>
              <a:spcAft>
                <a:spcPts val="0"/>
              </a:spcAft>
              <a:buClr>
                <a:schemeClr val="lt1"/>
              </a:buClr>
              <a:buSzPts val="3600"/>
              <a:buNone/>
              <a:defRPr sz="5760">
                <a:solidFill>
                  <a:schemeClr val="lt1"/>
                </a:solidFill>
              </a:defRPr>
            </a:lvl8pPr>
            <a:lvl9pPr lvl="8" algn="l">
              <a:lnSpc>
                <a:spcPct val="100000"/>
              </a:lnSpc>
              <a:spcBef>
                <a:spcPts val="0"/>
              </a:spcBef>
              <a:spcAft>
                <a:spcPts val="0"/>
              </a:spcAft>
              <a:buClr>
                <a:schemeClr val="lt1"/>
              </a:buClr>
              <a:buSzPts val="3600"/>
              <a:buNone/>
              <a:defRPr sz="5760">
                <a:solidFill>
                  <a:schemeClr val="lt1"/>
                </a:solidFill>
              </a:defRPr>
            </a:lvl9pPr>
          </a:lstStyle>
          <a:p>
            <a:endParaRPr/>
          </a:p>
        </p:txBody>
      </p:sp>
      <p:sp>
        <p:nvSpPr>
          <p:cNvPr id="67" name="Google Shape;67;p37"/>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7315200" cy="8229600"/>
          </a:xfrm>
          <a:prstGeom prst="rect">
            <a:avLst/>
          </a:prstGeom>
          <a:solidFill>
            <a:schemeClr val="lt2"/>
          </a:solidFill>
          <a:ln>
            <a:noFill/>
          </a:ln>
        </p:spPr>
        <p:txBody>
          <a:bodyPr spcFirstLastPara="1" wrap="square" lIns="146280" tIns="146280" rIns="146280" bIns="14628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1328628" y="1906009"/>
            <a:ext cx="1193221" cy="73322"/>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1168000" y="2109840"/>
            <a:ext cx="5281440" cy="26995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4160"/>
            </a:lvl1pPr>
            <a:lvl2pPr lvl="1" algn="l">
              <a:lnSpc>
                <a:spcPct val="100000"/>
              </a:lnSpc>
              <a:spcBef>
                <a:spcPts val="0"/>
              </a:spcBef>
              <a:spcAft>
                <a:spcPts val="0"/>
              </a:spcAft>
              <a:buSzPts val="2600"/>
              <a:buNone/>
              <a:defRPr sz="4160"/>
            </a:lvl2pPr>
            <a:lvl3pPr lvl="2" algn="l">
              <a:lnSpc>
                <a:spcPct val="100000"/>
              </a:lnSpc>
              <a:spcBef>
                <a:spcPts val="0"/>
              </a:spcBef>
              <a:spcAft>
                <a:spcPts val="0"/>
              </a:spcAft>
              <a:buSzPts val="2600"/>
              <a:buNone/>
              <a:defRPr sz="4160"/>
            </a:lvl3pPr>
            <a:lvl4pPr lvl="3" algn="l">
              <a:lnSpc>
                <a:spcPct val="100000"/>
              </a:lnSpc>
              <a:spcBef>
                <a:spcPts val="0"/>
              </a:spcBef>
              <a:spcAft>
                <a:spcPts val="0"/>
              </a:spcAft>
              <a:buSzPts val="2600"/>
              <a:buNone/>
              <a:defRPr sz="4160"/>
            </a:lvl4pPr>
            <a:lvl5pPr lvl="4" algn="l">
              <a:lnSpc>
                <a:spcPct val="100000"/>
              </a:lnSpc>
              <a:spcBef>
                <a:spcPts val="0"/>
              </a:spcBef>
              <a:spcAft>
                <a:spcPts val="0"/>
              </a:spcAft>
              <a:buSzPts val="2600"/>
              <a:buNone/>
              <a:defRPr sz="4160"/>
            </a:lvl5pPr>
            <a:lvl6pPr lvl="5" algn="l">
              <a:lnSpc>
                <a:spcPct val="100000"/>
              </a:lnSpc>
              <a:spcBef>
                <a:spcPts val="0"/>
              </a:spcBef>
              <a:spcAft>
                <a:spcPts val="0"/>
              </a:spcAft>
              <a:buSzPts val="2600"/>
              <a:buNone/>
              <a:defRPr sz="4160"/>
            </a:lvl6pPr>
            <a:lvl7pPr lvl="6" algn="l">
              <a:lnSpc>
                <a:spcPct val="100000"/>
              </a:lnSpc>
              <a:spcBef>
                <a:spcPts val="0"/>
              </a:spcBef>
              <a:spcAft>
                <a:spcPts val="0"/>
              </a:spcAft>
              <a:buSzPts val="2600"/>
              <a:buNone/>
              <a:defRPr sz="4160"/>
            </a:lvl7pPr>
            <a:lvl8pPr lvl="7" algn="l">
              <a:lnSpc>
                <a:spcPct val="100000"/>
              </a:lnSpc>
              <a:spcBef>
                <a:spcPts val="0"/>
              </a:spcBef>
              <a:spcAft>
                <a:spcPts val="0"/>
              </a:spcAft>
              <a:buSzPts val="2600"/>
              <a:buNone/>
              <a:defRPr sz="4160"/>
            </a:lvl8pPr>
            <a:lvl9pPr lvl="8" algn="l">
              <a:lnSpc>
                <a:spcPct val="100000"/>
              </a:lnSpc>
              <a:spcBef>
                <a:spcPts val="0"/>
              </a:spcBef>
              <a:spcAft>
                <a:spcPts val="0"/>
              </a:spcAft>
              <a:buSzPts val="2600"/>
              <a:buNone/>
              <a:defRPr sz="4160"/>
            </a:lvl9pPr>
          </a:lstStyle>
          <a:p>
            <a:endParaRPr/>
          </a:p>
        </p:txBody>
      </p:sp>
      <p:sp>
        <p:nvSpPr>
          <p:cNvPr id="74" name="Google Shape;74;p38"/>
          <p:cNvSpPr txBox="1">
            <a:spLocks noGrp="1"/>
          </p:cNvSpPr>
          <p:nvPr>
            <p:ph type="subTitle" idx="1"/>
          </p:nvPr>
        </p:nvSpPr>
        <p:spPr>
          <a:xfrm>
            <a:off x="1159920" y="5058440"/>
            <a:ext cx="5281440" cy="1214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2560"/>
            </a:lvl1pPr>
            <a:lvl2pPr lvl="1" algn="l">
              <a:lnSpc>
                <a:spcPct val="100000"/>
              </a:lnSpc>
              <a:spcBef>
                <a:spcPts val="0"/>
              </a:spcBef>
              <a:spcAft>
                <a:spcPts val="0"/>
              </a:spcAft>
              <a:buSzPts val="1600"/>
              <a:buNone/>
              <a:defRPr sz="2560"/>
            </a:lvl2pPr>
            <a:lvl3pPr lvl="2" algn="l">
              <a:lnSpc>
                <a:spcPct val="100000"/>
              </a:lnSpc>
              <a:spcBef>
                <a:spcPts val="0"/>
              </a:spcBef>
              <a:spcAft>
                <a:spcPts val="0"/>
              </a:spcAft>
              <a:buSzPts val="1600"/>
              <a:buNone/>
              <a:defRPr sz="2560"/>
            </a:lvl3pPr>
            <a:lvl4pPr lvl="3" algn="l">
              <a:lnSpc>
                <a:spcPct val="100000"/>
              </a:lnSpc>
              <a:spcBef>
                <a:spcPts val="0"/>
              </a:spcBef>
              <a:spcAft>
                <a:spcPts val="0"/>
              </a:spcAft>
              <a:buSzPts val="1600"/>
              <a:buNone/>
              <a:defRPr sz="2560"/>
            </a:lvl4pPr>
            <a:lvl5pPr lvl="4" algn="l">
              <a:lnSpc>
                <a:spcPct val="100000"/>
              </a:lnSpc>
              <a:spcBef>
                <a:spcPts val="0"/>
              </a:spcBef>
              <a:spcAft>
                <a:spcPts val="0"/>
              </a:spcAft>
              <a:buSzPts val="1600"/>
              <a:buNone/>
              <a:defRPr sz="2560"/>
            </a:lvl5pPr>
            <a:lvl6pPr lvl="5" algn="l">
              <a:lnSpc>
                <a:spcPct val="100000"/>
              </a:lnSpc>
              <a:spcBef>
                <a:spcPts val="0"/>
              </a:spcBef>
              <a:spcAft>
                <a:spcPts val="0"/>
              </a:spcAft>
              <a:buSzPts val="1600"/>
              <a:buNone/>
              <a:defRPr sz="2560"/>
            </a:lvl6pPr>
            <a:lvl7pPr lvl="6" algn="l">
              <a:lnSpc>
                <a:spcPct val="100000"/>
              </a:lnSpc>
              <a:spcBef>
                <a:spcPts val="0"/>
              </a:spcBef>
              <a:spcAft>
                <a:spcPts val="0"/>
              </a:spcAft>
              <a:buSzPts val="1600"/>
              <a:buNone/>
              <a:defRPr sz="2560"/>
            </a:lvl7pPr>
            <a:lvl8pPr lvl="7" algn="l">
              <a:lnSpc>
                <a:spcPct val="100000"/>
              </a:lnSpc>
              <a:spcBef>
                <a:spcPts val="0"/>
              </a:spcBef>
              <a:spcAft>
                <a:spcPts val="0"/>
              </a:spcAft>
              <a:buSzPts val="1600"/>
              <a:buNone/>
              <a:defRPr sz="2560"/>
            </a:lvl8pPr>
            <a:lvl9pPr lvl="8" algn="l">
              <a:lnSpc>
                <a:spcPct val="100000"/>
              </a:lnSpc>
              <a:spcBef>
                <a:spcPts val="0"/>
              </a:spcBef>
              <a:spcAft>
                <a:spcPts val="0"/>
              </a:spcAft>
              <a:buSzPts val="1600"/>
              <a:buNone/>
              <a:defRPr sz="2560"/>
            </a:lvl9pPr>
          </a:lstStyle>
          <a:p>
            <a:endParaRPr/>
          </a:p>
        </p:txBody>
      </p:sp>
      <p:sp>
        <p:nvSpPr>
          <p:cNvPr id="75" name="Google Shape;75;p38"/>
          <p:cNvSpPr txBox="1">
            <a:spLocks noGrp="1"/>
          </p:cNvSpPr>
          <p:nvPr>
            <p:ph type="body" idx="2"/>
          </p:nvPr>
        </p:nvSpPr>
        <p:spPr>
          <a:xfrm>
            <a:off x="8278760" y="2164200"/>
            <a:ext cx="5399040" cy="484080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SzPts val="1300"/>
              <a:buChar char="●"/>
              <a:defRPr/>
            </a:lvl1pPr>
            <a:lvl2pPr marL="1463040" lvl="1" indent="-477520" algn="l">
              <a:lnSpc>
                <a:spcPct val="115000"/>
              </a:lnSpc>
              <a:spcBef>
                <a:spcPts val="0"/>
              </a:spcBef>
              <a:spcAft>
                <a:spcPts val="0"/>
              </a:spcAft>
              <a:buSzPts val="1100"/>
              <a:buChar char="○"/>
              <a:defRPr/>
            </a:lvl2pPr>
            <a:lvl3pPr marL="2194560" lvl="2" indent="-477520" algn="l">
              <a:lnSpc>
                <a:spcPct val="115000"/>
              </a:lnSpc>
              <a:spcBef>
                <a:spcPts val="0"/>
              </a:spcBef>
              <a:spcAft>
                <a:spcPts val="0"/>
              </a:spcAft>
              <a:buSzPts val="1100"/>
              <a:buChar char="■"/>
              <a:defRPr/>
            </a:lvl3pPr>
            <a:lvl4pPr marL="2926080" lvl="3" indent="-477520" algn="l">
              <a:lnSpc>
                <a:spcPct val="115000"/>
              </a:lnSpc>
              <a:spcBef>
                <a:spcPts val="0"/>
              </a:spcBef>
              <a:spcAft>
                <a:spcPts val="0"/>
              </a:spcAft>
              <a:buSzPts val="1100"/>
              <a:buChar char="●"/>
              <a:defRPr/>
            </a:lvl4pPr>
            <a:lvl5pPr marL="3657600" lvl="4" indent="-477520" algn="l">
              <a:lnSpc>
                <a:spcPct val="115000"/>
              </a:lnSpc>
              <a:spcBef>
                <a:spcPts val="0"/>
              </a:spcBef>
              <a:spcAft>
                <a:spcPts val="0"/>
              </a:spcAft>
              <a:buSzPts val="1100"/>
              <a:buChar char="○"/>
              <a:defRPr/>
            </a:lvl5pPr>
            <a:lvl6pPr marL="4389120" lvl="5" indent="-477520" algn="l">
              <a:lnSpc>
                <a:spcPct val="115000"/>
              </a:lnSpc>
              <a:spcBef>
                <a:spcPts val="0"/>
              </a:spcBef>
              <a:spcAft>
                <a:spcPts val="0"/>
              </a:spcAft>
              <a:buSzPts val="1100"/>
              <a:buChar char="■"/>
              <a:defRPr/>
            </a:lvl6pPr>
            <a:lvl7pPr marL="5120640" lvl="6" indent="-477520" algn="l">
              <a:lnSpc>
                <a:spcPct val="115000"/>
              </a:lnSpc>
              <a:spcBef>
                <a:spcPts val="0"/>
              </a:spcBef>
              <a:spcAft>
                <a:spcPts val="0"/>
              </a:spcAft>
              <a:buSzPts val="1100"/>
              <a:buChar char="●"/>
              <a:defRPr/>
            </a:lvl7pPr>
            <a:lvl8pPr marL="5852160" lvl="7" indent="-477520" algn="l">
              <a:lnSpc>
                <a:spcPct val="115000"/>
              </a:lnSpc>
              <a:spcBef>
                <a:spcPts val="0"/>
              </a:spcBef>
              <a:spcAft>
                <a:spcPts val="0"/>
              </a:spcAft>
              <a:buSzPts val="1100"/>
              <a:buChar char="○"/>
              <a:defRPr/>
            </a:lvl8pPr>
            <a:lvl9pPr marL="6583680" lvl="8" indent="-47752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1159920" y="6996082"/>
            <a:ext cx="12315840" cy="736800"/>
          </a:xfrm>
          <a:prstGeom prst="rect">
            <a:avLst/>
          </a:prstGeom>
          <a:noFill/>
          <a:ln>
            <a:noFill/>
          </a:ln>
        </p:spPr>
        <p:txBody>
          <a:bodyPr spcFirstLastPara="1" wrap="square" lIns="91425" tIns="91425" rIns="91425" bIns="91425" anchor="ctr" anchorCtr="0">
            <a:normAutofit/>
          </a:bodyPr>
          <a:lstStyle>
            <a:lvl1pPr marL="731520" lvl="0" indent="-36576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0"/>
        <p:cNvGrpSpPr/>
        <p:nvPr/>
      </p:nvGrpSpPr>
      <p:grpSpPr>
        <a:xfrm>
          <a:off x="0" y="0"/>
          <a:ext cx="0" cy="0"/>
          <a:chOff x="0" y="0"/>
          <a:chExt cx="0" cy="0"/>
        </a:xfrm>
      </p:grpSpPr>
      <p:grpSp>
        <p:nvGrpSpPr>
          <p:cNvPr id="81" name="Google Shape;81;p40"/>
          <p:cNvGrpSpPr/>
          <p:nvPr/>
        </p:nvGrpSpPr>
        <p:grpSpPr>
          <a:xfrm>
            <a:off x="1328628" y="6670608"/>
            <a:ext cx="1193221" cy="73322"/>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24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1167120" y="1174320"/>
            <a:ext cx="12301440" cy="199152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12800">
                <a:solidFill>
                  <a:schemeClr val="lt1"/>
                </a:solidFill>
              </a:defRPr>
            </a:lvl1pPr>
            <a:lvl2pPr lvl="1" algn="l">
              <a:lnSpc>
                <a:spcPct val="100000"/>
              </a:lnSpc>
              <a:spcBef>
                <a:spcPts val="0"/>
              </a:spcBef>
              <a:spcAft>
                <a:spcPts val="0"/>
              </a:spcAft>
              <a:buClr>
                <a:schemeClr val="lt1"/>
              </a:buClr>
              <a:buSzPts val="8000"/>
              <a:buNone/>
              <a:defRPr sz="12800">
                <a:solidFill>
                  <a:schemeClr val="lt1"/>
                </a:solidFill>
              </a:defRPr>
            </a:lvl2pPr>
            <a:lvl3pPr lvl="2" algn="l">
              <a:lnSpc>
                <a:spcPct val="100000"/>
              </a:lnSpc>
              <a:spcBef>
                <a:spcPts val="0"/>
              </a:spcBef>
              <a:spcAft>
                <a:spcPts val="0"/>
              </a:spcAft>
              <a:buClr>
                <a:schemeClr val="lt1"/>
              </a:buClr>
              <a:buSzPts val="8000"/>
              <a:buNone/>
              <a:defRPr sz="12800">
                <a:solidFill>
                  <a:schemeClr val="lt1"/>
                </a:solidFill>
              </a:defRPr>
            </a:lvl3pPr>
            <a:lvl4pPr lvl="3" algn="l">
              <a:lnSpc>
                <a:spcPct val="100000"/>
              </a:lnSpc>
              <a:spcBef>
                <a:spcPts val="0"/>
              </a:spcBef>
              <a:spcAft>
                <a:spcPts val="0"/>
              </a:spcAft>
              <a:buClr>
                <a:schemeClr val="lt1"/>
              </a:buClr>
              <a:buSzPts val="8000"/>
              <a:buNone/>
              <a:defRPr sz="12800">
                <a:solidFill>
                  <a:schemeClr val="lt1"/>
                </a:solidFill>
              </a:defRPr>
            </a:lvl4pPr>
            <a:lvl5pPr lvl="4" algn="l">
              <a:lnSpc>
                <a:spcPct val="100000"/>
              </a:lnSpc>
              <a:spcBef>
                <a:spcPts val="0"/>
              </a:spcBef>
              <a:spcAft>
                <a:spcPts val="0"/>
              </a:spcAft>
              <a:buClr>
                <a:schemeClr val="lt1"/>
              </a:buClr>
              <a:buSzPts val="8000"/>
              <a:buNone/>
              <a:defRPr sz="12800">
                <a:solidFill>
                  <a:schemeClr val="lt1"/>
                </a:solidFill>
              </a:defRPr>
            </a:lvl5pPr>
            <a:lvl6pPr lvl="5" algn="l">
              <a:lnSpc>
                <a:spcPct val="100000"/>
              </a:lnSpc>
              <a:spcBef>
                <a:spcPts val="0"/>
              </a:spcBef>
              <a:spcAft>
                <a:spcPts val="0"/>
              </a:spcAft>
              <a:buClr>
                <a:schemeClr val="lt1"/>
              </a:buClr>
              <a:buSzPts val="8000"/>
              <a:buNone/>
              <a:defRPr sz="12800">
                <a:solidFill>
                  <a:schemeClr val="lt1"/>
                </a:solidFill>
              </a:defRPr>
            </a:lvl6pPr>
            <a:lvl7pPr lvl="6" algn="l">
              <a:lnSpc>
                <a:spcPct val="100000"/>
              </a:lnSpc>
              <a:spcBef>
                <a:spcPts val="0"/>
              </a:spcBef>
              <a:spcAft>
                <a:spcPts val="0"/>
              </a:spcAft>
              <a:buClr>
                <a:schemeClr val="lt1"/>
              </a:buClr>
              <a:buSzPts val="8000"/>
              <a:buNone/>
              <a:defRPr sz="12800">
                <a:solidFill>
                  <a:schemeClr val="lt1"/>
                </a:solidFill>
              </a:defRPr>
            </a:lvl7pPr>
            <a:lvl8pPr lvl="7" algn="l">
              <a:lnSpc>
                <a:spcPct val="100000"/>
              </a:lnSpc>
              <a:spcBef>
                <a:spcPts val="0"/>
              </a:spcBef>
              <a:spcAft>
                <a:spcPts val="0"/>
              </a:spcAft>
              <a:buClr>
                <a:schemeClr val="lt1"/>
              </a:buClr>
              <a:buSzPts val="8000"/>
              <a:buNone/>
              <a:defRPr sz="12800">
                <a:solidFill>
                  <a:schemeClr val="lt1"/>
                </a:solidFill>
              </a:defRPr>
            </a:lvl8pPr>
            <a:lvl9pPr lvl="8" algn="l">
              <a:lnSpc>
                <a:spcPct val="100000"/>
              </a:lnSpc>
              <a:spcBef>
                <a:spcPts val="0"/>
              </a:spcBef>
              <a:spcAft>
                <a:spcPts val="0"/>
              </a:spcAft>
              <a:buClr>
                <a:schemeClr val="lt1"/>
              </a:buClr>
              <a:buSzPts val="8000"/>
              <a:buNone/>
              <a:defRPr sz="12800">
                <a:solidFill>
                  <a:schemeClr val="lt1"/>
                </a:solidFill>
              </a:defRPr>
            </a:lvl9pPr>
          </a:lstStyle>
          <a:p>
            <a:r>
              <a:t>xx%</a:t>
            </a:r>
          </a:p>
        </p:txBody>
      </p:sp>
      <p:sp>
        <p:nvSpPr>
          <p:cNvPr id="85" name="Google Shape;85;p40"/>
          <p:cNvSpPr txBox="1">
            <a:spLocks noGrp="1"/>
          </p:cNvSpPr>
          <p:nvPr>
            <p:ph type="body" idx="1"/>
          </p:nvPr>
        </p:nvSpPr>
        <p:spPr>
          <a:xfrm>
            <a:off x="1167120" y="3636621"/>
            <a:ext cx="12301440" cy="2528640"/>
          </a:xfrm>
          <a:prstGeom prst="rect">
            <a:avLst/>
          </a:prstGeom>
          <a:noFill/>
          <a:ln>
            <a:noFill/>
          </a:ln>
        </p:spPr>
        <p:txBody>
          <a:bodyPr spcFirstLastPara="1" wrap="square" lIns="91425" tIns="91425" rIns="91425" bIns="91425" anchor="t" anchorCtr="0">
            <a:normAutofit/>
          </a:bodyPr>
          <a:lstStyle>
            <a:lvl1pPr marL="731520" lvl="0" indent="-497840" algn="l">
              <a:lnSpc>
                <a:spcPct val="115000"/>
              </a:lnSpc>
              <a:spcBef>
                <a:spcPts val="0"/>
              </a:spcBef>
              <a:spcAft>
                <a:spcPts val="0"/>
              </a:spcAft>
              <a:buClr>
                <a:schemeClr val="lt1"/>
              </a:buClr>
              <a:buSzPts val="1300"/>
              <a:buChar char="●"/>
              <a:defRPr>
                <a:solidFill>
                  <a:schemeClr val="lt1"/>
                </a:solidFill>
              </a:defRPr>
            </a:lvl1pPr>
            <a:lvl2pPr marL="1463040" lvl="1" indent="-477520" algn="l">
              <a:lnSpc>
                <a:spcPct val="115000"/>
              </a:lnSpc>
              <a:spcBef>
                <a:spcPts val="0"/>
              </a:spcBef>
              <a:spcAft>
                <a:spcPts val="0"/>
              </a:spcAft>
              <a:buClr>
                <a:schemeClr val="lt1"/>
              </a:buClr>
              <a:buSzPts val="1100"/>
              <a:buChar char="○"/>
              <a:defRPr>
                <a:solidFill>
                  <a:schemeClr val="lt1"/>
                </a:solidFill>
              </a:defRPr>
            </a:lvl2pPr>
            <a:lvl3pPr marL="2194560" lvl="2" indent="-477520" algn="l">
              <a:lnSpc>
                <a:spcPct val="115000"/>
              </a:lnSpc>
              <a:spcBef>
                <a:spcPts val="0"/>
              </a:spcBef>
              <a:spcAft>
                <a:spcPts val="0"/>
              </a:spcAft>
              <a:buClr>
                <a:schemeClr val="lt1"/>
              </a:buClr>
              <a:buSzPts val="1100"/>
              <a:buChar char="■"/>
              <a:defRPr>
                <a:solidFill>
                  <a:schemeClr val="lt1"/>
                </a:solidFill>
              </a:defRPr>
            </a:lvl3pPr>
            <a:lvl4pPr marL="2926080" lvl="3" indent="-477520" algn="l">
              <a:lnSpc>
                <a:spcPct val="115000"/>
              </a:lnSpc>
              <a:spcBef>
                <a:spcPts val="0"/>
              </a:spcBef>
              <a:spcAft>
                <a:spcPts val="0"/>
              </a:spcAft>
              <a:buClr>
                <a:schemeClr val="lt1"/>
              </a:buClr>
              <a:buSzPts val="1100"/>
              <a:buChar char="●"/>
              <a:defRPr>
                <a:solidFill>
                  <a:schemeClr val="lt1"/>
                </a:solidFill>
              </a:defRPr>
            </a:lvl4pPr>
            <a:lvl5pPr marL="3657600" lvl="4" indent="-477520" algn="l">
              <a:lnSpc>
                <a:spcPct val="115000"/>
              </a:lnSpc>
              <a:spcBef>
                <a:spcPts val="0"/>
              </a:spcBef>
              <a:spcAft>
                <a:spcPts val="0"/>
              </a:spcAft>
              <a:buClr>
                <a:schemeClr val="lt1"/>
              </a:buClr>
              <a:buSzPts val="1100"/>
              <a:buChar char="○"/>
              <a:defRPr>
                <a:solidFill>
                  <a:schemeClr val="lt1"/>
                </a:solidFill>
              </a:defRPr>
            </a:lvl5pPr>
            <a:lvl6pPr marL="4389120" lvl="5" indent="-477520" algn="l">
              <a:lnSpc>
                <a:spcPct val="115000"/>
              </a:lnSpc>
              <a:spcBef>
                <a:spcPts val="0"/>
              </a:spcBef>
              <a:spcAft>
                <a:spcPts val="0"/>
              </a:spcAft>
              <a:buClr>
                <a:schemeClr val="lt1"/>
              </a:buClr>
              <a:buSzPts val="1100"/>
              <a:buChar char="■"/>
              <a:defRPr>
                <a:solidFill>
                  <a:schemeClr val="lt1"/>
                </a:solidFill>
              </a:defRPr>
            </a:lvl6pPr>
            <a:lvl7pPr marL="5120640" lvl="6" indent="-477520" algn="l">
              <a:lnSpc>
                <a:spcPct val="115000"/>
              </a:lnSpc>
              <a:spcBef>
                <a:spcPts val="0"/>
              </a:spcBef>
              <a:spcAft>
                <a:spcPts val="0"/>
              </a:spcAft>
              <a:buClr>
                <a:schemeClr val="lt1"/>
              </a:buClr>
              <a:buSzPts val="1100"/>
              <a:buChar char="●"/>
              <a:defRPr>
                <a:solidFill>
                  <a:schemeClr val="lt1"/>
                </a:solidFill>
              </a:defRPr>
            </a:lvl7pPr>
            <a:lvl8pPr marL="5852160" lvl="7" indent="-477520" algn="l">
              <a:lnSpc>
                <a:spcPct val="115000"/>
              </a:lnSpc>
              <a:spcBef>
                <a:spcPts val="0"/>
              </a:spcBef>
              <a:spcAft>
                <a:spcPts val="0"/>
              </a:spcAft>
              <a:buClr>
                <a:schemeClr val="lt1"/>
              </a:buClr>
              <a:buSzPts val="1100"/>
              <a:buChar char="○"/>
              <a:defRPr>
                <a:solidFill>
                  <a:schemeClr val="lt1"/>
                </a:solidFill>
              </a:defRPr>
            </a:lvl8pPr>
            <a:lvl9pPr marL="6583680" lvl="8" indent="-47752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498720" y="712040"/>
            <a:ext cx="13632960" cy="91632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498720" y="1843960"/>
            <a:ext cx="13632960" cy="546624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13658083" y="7599762"/>
            <a:ext cx="877920" cy="62976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600"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2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lMx_mIS4gE4&amp;list=PLLy_2iUCG87Dj8UwNHjudl9thOQizp2Y3&amp;index=3&amp;t=7s" TargetMode="External"/><Relationship Id="rId7" Type="http://schemas.openxmlformats.org/officeDocument/2006/relationships/image" Target="../media/image34.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www.coursera.org/programs/chandigarh-university-faculty-learning-program-2pip1/learn/research-methods?source=search"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06460" y="1948028"/>
            <a:ext cx="4452773" cy="445277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10515600" y="7810501"/>
            <a:ext cx="3291840" cy="438240"/>
          </a:xfrm>
          <a:prstGeom prst="rect">
            <a:avLst/>
          </a:prstGeom>
          <a:noFill/>
          <a:ln>
            <a:noFill/>
          </a:ln>
        </p:spPr>
        <p:txBody>
          <a:bodyPr spcFirstLastPara="1" wrap="square" lIns="146280" tIns="73120" rIns="146280" bIns="73120" anchor="ctr" anchorCtr="0">
            <a:noAutofit/>
          </a:bodyPr>
          <a:lstStyle/>
          <a:p>
            <a:pPr>
              <a:buSzPts val="1800"/>
            </a:pPr>
            <a:endParaRPr sz="2880">
              <a:solidFill>
                <a:schemeClr val="dk1"/>
              </a:solidFill>
            </a:endParaRPr>
          </a:p>
        </p:txBody>
      </p:sp>
      <p:sp>
        <p:nvSpPr>
          <p:cNvPr id="94" name="Google Shape;94;p1"/>
          <p:cNvSpPr/>
          <p:nvPr/>
        </p:nvSpPr>
        <p:spPr>
          <a:xfrm rot="10800000" flipH="1">
            <a:off x="12474621" y="6860101"/>
            <a:ext cx="1549440" cy="1388640"/>
          </a:xfrm>
          <a:prstGeom prst="rtTriangle">
            <a:avLst/>
          </a:prstGeom>
          <a:solidFill>
            <a:srgbClr val="F2F2F2">
              <a:alpha val="16078"/>
            </a:srgbClr>
          </a:solidFill>
          <a:ln>
            <a:noFill/>
          </a:ln>
        </p:spPr>
        <p:txBody>
          <a:bodyPr spcFirstLastPara="1" wrap="square" lIns="146280" tIns="73120" rIns="146280" bIns="73120" anchor="ctr" anchorCtr="0">
            <a:noAutofit/>
          </a:bodyPr>
          <a:lstStyle/>
          <a:p>
            <a:pPr>
              <a:buSzPts val="1800"/>
            </a:pPr>
            <a:endParaRPr sz="2880">
              <a:solidFill>
                <a:schemeClr val="dk1"/>
              </a:solidFill>
            </a:endParaRPr>
          </a:p>
        </p:txBody>
      </p:sp>
      <p:sp>
        <p:nvSpPr>
          <p:cNvPr id="96" name="Google Shape;96;p1"/>
          <p:cNvSpPr/>
          <p:nvPr/>
        </p:nvSpPr>
        <p:spPr>
          <a:xfrm flipH="1">
            <a:off x="8455678" y="-78104"/>
            <a:ext cx="6174720" cy="7023840"/>
          </a:xfrm>
          <a:prstGeom prst="rtTriangle">
            <a:avLst/>
          </a:prstGeom>
          <a:solidFill>
            <a:srgbClr val="F2F2F2">
              <a:alpha val="16078"/>
            </a:srgbClr>
          </a:solidFill>
          <a:ln>
            <a:noFill/>
          </a:ln>
        </p:spPr>
        <p:txBody>
          <a:bodyPr spcFirstLastPara="1" wrap="square" lIns="146280" tIns="73120" rIns="146280" bIns="73120" anchor="ctr" anchorCtr="0">
            <a:noAutofit/>
          </a:bodyPr>
          <a:lstStyle/>
          <a:p>
            <a:pPr>
              <a:buSzPts val="1800"/>
            </a:pPr>
            <a:endParaRPr sz="2880">
              <a:solidFill>
                <a:schemeClr val="dk1"/>
              </a:solidFill>
            </a:endParaRPr>
          </a:p>
        </p:txBody>
      </p:sp>
      <p:sp>
        <p:nvSpPr>
          <p:cNvPr id="97" name="Google Shape;97;p1"/>
          <p:cNvSpPr/>
          <p:nvPr/>
        </p:nvSpPr>
        <p:spPr>
          <a:xfrm>
            <a:off x="2548890" y="2430632"/>
            <a:ext cx="8195520" cy="189696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146280" tIns="73120" rIns="146280" bIns="73120" anchor="ctr" anchorCtr="0">
            <a:noAutofit/>
          </a:bodyPr>
          <a:lstStyle/>
          <a:p>
            <a:pPr algn="ctr">
              <a:buClr>
                <a:schemeClr val="lt1"/>
              </a:buClr>
              <a:buSzPts val="1800"/>
            </a:pPr>
            <a:endParaRPr sz="2880">
              <a:solidFill>
                <a:schemeClr val="lt1"/>
              </a:solidFill>
              <a:latin typeface="Calibri"/>
              <a:ea typeface="Calibri"/>
              <a:cs typeface="Calibri"/>
              <a:sym typeface="Calibri"/>
            </a:endParaRPr>
          </a:p>
        </p:txBody>
      </p:sp>
      <p:sp>
        <p:nvSpPr>
          <p:cNvPr id="98" name="Google Shape;98;p1"/>
          <p:cNvSpPr/>
          <p:nvPr/>
        </p:nvSpPr>
        <p:spPr>
          <a:xfrm flipH="1">
            <a:off x="11776800" y="6286800"/>
            <a:ext cx="2839680" cy="1920480"/>
          </a:xfrm>
          <a:prstGeom prst="rtTriangle">
            <a:avLst/>
          </a:prstGeom>
          <a:solidFill>
            <a:srgbClr val="C00000"/>
          </a:solidFill>
          <a:ln>
            <a:noFill/>
          </a:ln>
        </p:spPr>
        <p:txBody>
          <a:bodyPr spcFirstLastPara="1" wrap="square" lIns="146280" tIns="73120" rIns="146280" bIns="73120" anchor="ctr" anchorCtr="0">
            <a:noAutofit/>
          </a:bodyPr>
          <a:lstStyle/>
          <a:p>
            <a:pPr>
              <a:buSzPts val="1800"/>
            </a:pPr>
            <a:endParaRPr sz="2880">
              <a:solidFill>
                <a:schemeClr val="dk1"/>
              </a:solidFill>
            </a:endParaRPr>
          </a:p>
        </p:txBody>
      </p:sp>
      <p:sp>
        <p:nvSpPr>
          <p:cNvPr id="102" name="Google Shape;102;p1"/>
          <p:cNvSpPr txBox="1"/>
          <p:nvPr/>
        </p:nvSpPr>
        <p:spPr>
          <a:xfrm>
            <a:off x="1235034" y="1522534"/>
            <a:ext cx="13141440" cy="6663041"/>
          </a:xfrm>
          <a:prstGeom prst="rect">
            <a:avLst/>
          </a:prstGeom>
          <a:noFill/>
          <a:ln>
            <a:noFill/>
          </a:ln>
        </p:spPr>
        <p:txBody>
          <a:bodyPr spcFirstLastPara="1" wrap="square" lIns="146280" tIns="73120" rIns="146280" bIns="73120" anchor="t" anchorCtr="0">
            <a:spAutoFit/>
          </a:bodyPr>
          <a:lstStyle/>
          <a:p>
            <a:pPr algn="ctr">
              <a:lnSpc>
                <a:spcPct val="90000"/>
              </a:lnSpc>
              <a:buClr>
                <a:schemeClr val="dk1"/>
              </a:buClr>
              <a:buSzPts val="3200"/>
            </a:pPr>
            <a:r>
              <a:rPr lang="en-US" sz="512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sz="168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792"/>
              </a:spcBef>
              <a:buClr>
                <a:schemeClr val="dk1"/>
              </a:buClr>
              <a:buSzPts val="3200"/>
            </a:pPr>
            <a:r>
              <a:rPr lang="en-US" sz="512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CSE 4</a:t>
            </a:r>
            <a:r>
              <a:rPr lang="en-US" sz="5120" b="1"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TH</a:t>
            </a:r>
            <a:r>
              <a:rPr lang="en-US" sz="512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 YEAR</a:t>
            </a:r>
            <a:endParaRPr sz="168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792"/>
              </a:spcBef>
              <a:buClr>
                <a:schemeClr val="dk1"/>
              </a:buClr>
              <a:buSzPts val="2800"/>
            </a:pPr>
            <a:r>
              <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CS201, CS202</a:t>
            </a:r>
            <a:r>
              <a:rPr lang="en-US" sz="320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CS703</a:t>
            </a:r>
            <a:r>
              <a:rPr lang="en-US" sz="360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 CS704, IT201, IT202, BI519</a:t>
            </a:r>
            <a:endParaRPr sz="3584"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792"/>
              </a:spcBef>
              <a:buClr>
                <a:schemeClr val="dk1"/>
              </a:buClr>
              <a:buSzPts val="2800"/>
            </a:pPr>
            <a:r>
              <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7</a:t>
            </a:r>
            <a:r>
              <a:rPr lang="en-US" sz="3200"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a:t>
            </a:r>
            <a:endParaRPr sz="3584"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568"/>
              </a:spcBef>
              <a:buClr>
                <a:schemeClr val="dk1"/>
              </a:buClr>
              <a:buSzPts val="2800"/>
            </a:pPr>
            <a:r>
              <a:rPr lang="en-US" sz="3840" b="1" dirty="0">
                <a:solidFill>
                  <a:schemeClr val="bg2"/>
                </a:solidFill>
                <a:latin typeface="Calibri" panose="020F0502020204030204" pitchFamily="34" charset="0"/>
                <a:ea typeface="Calibri" panose="020F0502020204030204" pitchFamily="34" charset="0"/>
                <a:cs typeface="Calibri" panose="020F0502020204030204" pitchFamily="34" charset="0"/>
              </a:rPr>
              <a:t>RESEARCH METHODOLOGY</a:t>
            </a:r>
            <a:endParaRPr sz="256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1568"/>
              </a:spcBef>
              <a:buClr>
                <a:schemeClr val="dk1"/>
              </a:buClr>
              <a:buSzPts val="2800"/>
            </a:pPr>
            <a:r>
              <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rPr>
              <a:t>22CSH-401</a:t>
            </a:r>
            <a:endParaRPr sz="256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792"/>
              </a:spcBef>
              <a:buSzPts val="3200"/>
            </a:pPr>
            <a:r>
              <a:rPr lang="en-US" sz="2880" b="1" dirty="0">
                <a:latin typeface="Calibri" panose="020F0502020204030204" pitchFamily="34" charset="0"/>
                <a:ea typeface="Calibri" panose="020F0502020204030204" pitchFamily="34" charset="0"/>
                <a:cs typeface="Calibri" panose="020F0502020204030204" pitchFamily="34" charset="0"/>
              </a:rPr>
              <a:t>UNIT NO. 1                     CHAPTER NO. 1                    LECTURE NO. 2</a:t>
            </a:r>
          </a:p>
          <a:p>
            <a:pPr>
              <a:spcBef>
                <a:spcPts val="1792"/>
              </a:spcBef>
              <a:buSzPts val="3200"/>
            </a:pPr>
            <a:r>
              <a:rPr lang="en-US" sz="2880" b="1" dirty="0">
                <a:latin typeface="Calibri" panose="020F0502020204030204" pitchFamily="34" charset="0"/>
                <a:ea typeface="Calibri" panose="020F0502020204030204" pitchFamily="34" charset="0"/>
                <a:cs typeface="Calibri" panose="020F0502020204030204" pitchFamily="34" charset="0"/>
              </a:rPr>
              <a:t>TOPIC : TYPES OF RESEARCH</a:t>
            </a:r>
          </a:p>
          <a:p>
            <a:pPr>
              <a:spcBef>
                <a:spcPts val="1792"/>
              </a:spcBef>
              <a:buSzPts val="3200"/>
            </a:pPr>
            <a:r>
              <a:rPr lang="en-US" sz="2880" b="1" dirty="0">
                <a:latin typeface="Calibri" panose="020F0502020204030204" pitchFamily="34" charset="0"/>
                <a:ea typeface="Calibri" panose="020F0502020204030204" pitchFamily="34" charset="0"/>
                <a:cs typeface="Calibri" panose="020F0502020204030204" pitchFamily="34" charset="0"/>
              </a:rPr>
              <a:t>SHIVAM SHARMA E16516                                                        ASSISTANT PROFESSOR</a:t>
            </a:r>
            <a:endParaRPr lang="en-US" sz="512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8455681" y="1"/>
            <a:ext cx="6174718" cy="929485"/>
          </a:xfrm>
          <a:prstGeom prst="rect">
            <a:avLst/>
          </a:prstGeom>
          <a:noFill/>
        </p:spPr>
        <p:txBody>
          <a:bodyPr wrap="square" rtlCol="0">
            <a:spAutoFit/>
          </a:bodyPr>
          <a:lstStyle/>
          <a:p>
            <a:pPr algn="r"/>
            <a:r>
              <a:rPr lang="en-IN" sz="288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2560" b="1" dirty="0">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ABB084F-6373-4B9E-8C8B-80506DEE7D57}"/>
            </a:ext>
          </a:extLst>
        </p:cNvPr>
        <p:cNvGrpSpPr/>
        <p:nvPr/>
      </p:nvGrpSpPr>
      <p:grpSpPr>
        <a:xfrm>
          <a:off x="0" y="0"/>
          <a:ext cx="0" cy="0"/>
          <a:chOff x="0" y="0"/>
          <a:chExt cx="0" cy="0"/>
        </a:xfrm>
      </p:grpSpPr>
      <p:sp>
        <p:nvSpPr>
          <p:cNvPr id="22" name="Text 0">
            <a:extLst>
              <a:ext uri="{FF2B5EF4-FFF2-40B4-BE49-F238E27FC236}">
                <a16:creationId xmlns:a16="http://schemas.microsoft.com/office/drawing/2014/main" id="{85556643-B098-D8D0-744D-7E98ACAAC19F}"/>
              </a:ext>
            </a:extLst>
          </p:cNvPr>
          <p:cNvSpPr/>
          <p:nvPr/>
        </p:nvSpPr>
        <p:spPr>
          <a:xfrm>
            <a:off x="734020" y="2490073"/>
            <a:ext cx="5243393" cy="655439"/>
          </a:xfrm>
          <a:prstGeom prst="rect">
            <a:avLst/>
          </a:prstGeom>
          <a:noFill/>
          <a:ln/>
        </p:spPr>
        <p:txBody>
          <a:bodyPr wrap="none" lIns="0" tIns="0" rIns="0" bIns="0" rtlCol="0" anchor="t"/>
          <a:lstStyle/>
          <a:p>
            <a:pPr marL="0" indent="0" algn="l">
              <a:lnSpc>
                <a:spcPts val="5150"/>
              </a:lnSpc>
              <a:buNone/>
            </a:pPr>
            <a:r>
              <a:rPr lang="en-US" sz="4100" b="1" dirty="0">
                <a:solidFill>
                  <a:srgbClr val="000000"/>
                </a:solidFill>
                <a:latin typeface="Times New Roman" panose="02020603050405020304" pitchFamily="18" charset="0"/>
                <a:ea typeface="Inter Bold" pitchFamily="34" charset="-122"/>
                <a:cs typeface="Times New Roman" panose="02020603050405020304" pitchFamily="18" charset="0"/>
              </a:rPr>
              <a:t>Learning Objectives</a:t>
            </a:r>
            <a:endParaRPr lang="en-US" sz="4100" dirty="0">
              <a:latin typeface="Times New Roman" panose="02020603050405020304" pitchFamily="18" charset="0"/>
              <a:cs typeface="Times New Roman" panose="02020603050405020304" pitchFamily="18" charset="0"/>
            </a:endParaRPr>
          </a:p>
        </p:txBody>
      </p:sp>
      <p:sp>
        <p:nvSpPr>
          <p:cNvPr id="23" name="Shape 1">
            <a:extLst>
              <a:ext uri="{FF2B5EF4-FFF2-40B4-BE49-F238E27FC236}">
                <a16:creationId xmlns:a16="http://schemas.microsoft.com/office/drawing/2014/main" id="{9942C309-6A6C-2CD8-8A54-9379C7358EFC}"/>
              </a:ext>
            </a:extLst>
          </p:cNvPr>
          <p:cNvSpPr/>
          <p:nvPr/>
        </p:nvSpPr>
        <p:spPr>
          <a:xfrm>
            <a:off x="734020" y="3460075"/>
            <a:ext cx="471845" cy="471845"/>
          </a:xfrm>
          <a:prstGeom prst="roundRect">
            <a:avLst>
              <a:gd name="adj" fmla="val 18669"/>
            </a:avLst>
          </a:prstGeom>
          <a:solidFill>
            <a:srgbClr val="DADBF1"/>
          </a:solidFill>
          <a:ln w="7620">
            <a:solidFill>
              <a:srgbClr val="C0C1D7"/>
            </a:solidFill>
            <a:prstDash val="solid"/>
          </a:ln>
        </p:spPr>
      </p:sp>
      <p:pic>
        <p:nvPicPr>
          <p:cNvPr id="24" name="Image 1" descr="preencoded.png">
            <a:extLst>
              <a:ext uri="{FF2B5EF4-FFF2-40B4-BE49-F238E27FC236}">
                <a16:creationId xmlns:a16="http://schemas.microsoft.com/office/drawing/2014/main" id="{DB96A3BE-DFBE-2177-CC3C-78867283C341}"/>
              </a:ext>
            </a:extLst>
          </p:cNvPr>
          <p:cNvPicPr>
            <a:picLocks noChangeAspect="1"/>
          </p:cNvPicPr>
          <p:nvPr/>
        </p:nvPicPr>
        <p:blipFill>
          <a:blip r:embed="rId3"/>
          <a:stretch>
            <a:fillRect/>
          </a:stretch>
        </p:blipFill>
        <p:spPr>
          <a:xfrm>
            <a:off x="812602" y="3499366"/>
            <a:ext cx="314563" cy="393144"/>
          </a:xfrm>
          <a:prstGeom prst="rect">
            <a:avLst/>
          </a:prstGeom>
        </p:spPr>
      </p:pic>
      <p:sp>
        <p:nvSpPr>
          <p:cNvPr id="25" name="Text 2">
            <a:extLst>
              <a:ext uri="{FF2B5EF4-FFF2-40B4-BE49-F238E27FC236}">
                <a16:creationId xmlns:a16="http://schemas.microsoft.com/office/drawing/2014/main" id="{F48B7E77-0F09-3B5F-CA0C-3065CFEF4B17}"/>
              </a:ext>
            </a:extLst>
          </p:cNvPr>
          <p:cNvSpPr/>
          <p:nvPr/>
        </p:nvSpPr>
        <p:spPr>
          <a:xfrm>
            <a:off x="1415534" y="3532108"/>
            <a:ext cx="3892629" cy="327660"/>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Times New Roman" panose="02020603050405020304" pitchFamily="18" charset="0"/>
                <a:ea typeface="Inter Bold" pitchFamily="34" charset="-122"/>
                <a:cs typeface="Times New Roman" panose="02020603050405020304" pitchFamily="18" charset="0"/>
              </a:rPr>
              <a:t>Identify Major Research Types</a:t>
            </a:r>
            <a:endParaRPr lang="en-US" sz="2050" dirty="0">
              <a:latin typeface="Times New Roman" panose="02020603050405020304" pitchFamily="18" charset="0"/>
              <a:cs typeface="Times New Roman" panose="02020603050405020304" pitchFamily="18" charset="0"/>
            </a:endParaRPr>
          </a:p>
        </p:txBody>
      </p:sp>
      <p:sp>
        <p:nvSpPr>
          <p:cNvPr id="26" name="Text 3">
            <a:extLst>
              <a:ext uri="{FF2B5EF4-FFF2-40B4-BE49-F238E27FC236}">
                <a16:creationId xmlns:a16="http://schemas.microsoft.com/office/drawing/2014/main" id="{874D460B-5FBF-F18B-39BE-6C5BDCD37D31}"/>
              </a:ext>
            </a:extLst>
          </p:cNvPr>
          <p:cNvSpPr/>
          <p:nvPr/>
        </p:nvSpPr>
        <p:spPr>
          <a:xfrm>
            <a:off x="1415534" y="3985498"/>
            <a:ext cx="5768697" cy="1006912"/>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Distinguish between basic, applied, exploratory, descriptive, and experimental research methodologies and their appropriate contexts</a:t>
            </a:r>
            <a:endParaRPr lang="en-US" sz="1650" dirty="0">
              <a:latin typeface="Times New Roman" panose="02020603050405020304" pitchFamily="18" charset="0"/>
              <a:cs typeface="Times New Roman" panose="02020603050405020304" pitchFamily="18" charset="0"/>
            </a:endParaRPr>
          </a:p>
        </p:txBody>
      </p:sp>
      <p:sp>
        <p:nvSpPr>
          <p:cNvPr id="27" name="Shape 4">
            <a:extLst>
              <a:ext uri="{FF2B5EF4-FFF2-40B4-BE49-F238E27FC236}">
                <a16:creationId xmlns:a16="http://schemas.microsoft.com/office/drawing/2014/main" id="{A4A0E2E2-0C0B-DF21-72C1-BEA11B229C2B}"/>
              </a:ext>
            </a:extLst>
          </p:cNvPr>
          <p:cNvSpPr/>
          <p:nvPr/>
        </p:nvSpPr>
        <p:spPr>
          <a:xfrm>
            <a:off x="7446288" y="3460075"/>
            <a:ext cx="471845" cy="471845"/>
          </a:xfrm>
          <a:prstGeom prst="roundRect">
            <a:avLst>
              <a:gd name="adj" fmla="val 18669"/>
            </a:avLst>
          </a:prstGeom>
          <a:solidFill>
            <a:srgbClr val="DADBF1"/>
          </a:solidFill>
          <a:ln w="7620">
            <a:solidFill>
              <a:srgbClr val="C0C1D7"/>
            </a:solidFill>
            <a:prstDash val="solid"/>
          </a:ln>
        </p:spPr>
      </p:sp>
      <p:pic>
        <p:nvPicPr>
          <p:cNvPr id="28" name="Image 2" descr="preencoded.png">
            <a:extLst>
              <a:ext uri="{FF2B5EF4-FFF2-40B4-BE49-F238E27FC236}">
                <a16:creationId xmlns:a16="http://schemas.microsoft.com/office/drawing/2014/main" id="{40223211-C2AC-DCDE-904F-6217B3F07199}"/>
              </a:ext>
            </a:extLst>
          </p:cNvPr>
          <p:cNvPicPr>
            <a:picLocks noChangeAspect="1"/>
          </p:cNvPicPr>
          <p:nvPr/>
        </p:nvPicPr>
        <p:blipFill>
          <a:blip r:embed="rId4"/>
          <a:stretch>
            <a:fillRect/>
          </a:stretch>
        </p:blipFill>
        <p:spPr>
          <a:xfrm>
            <a:off x="7524869" y="3499366"/>
            <a:ext cx="314563" cy="393144"/>
          </a:xfrm>
          <a:prstGeom prst="rect">
            <a:avLst/>
          </a:prstGeom>
        </p:spPr>
      </p:pic>
      <p:sp>
        <p:nvSpPr>
          <p:cNvPr id="29" name="Text 5">
            <a:extLst>
              <a:ext uri="{FF2B5EF4-FFF2-40B4-BE49-F238E27FC236}">
                <a16:creationId xmlns:a16="http://schemas.microsoft.com/office/drawing/2014/main" id="{D35033CC-A902-BA10-F36C-9542A3B822BE}"/>
              </a:ext>
            </a:extLst>
          </p:cNvPr>
          <p:cNvSpPr/>
          <p:nvPr/>
        </p:nvSpPr>
        <p:spPr>
          <a:xfrm>
            <a:off x="8127802" y="3532108"/>
            <a:ext cx="5588198" cy="327660"/>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Times New Roman" panose="02020603050405020304" pitchFamily="18" charset="0"/>
                <a:ea typeface="Inter Bold" pitchFamily="34" charset="-122"/>
                <a:cs typeface="Times New Roman" panose="02020603050405020304" pitchFamily="18" charset="0"/>
              </a:rPr>
              <a:t>Understand Methodological Characteristics</a:t>
            </a:r>
            <a:endParaRPr lang="en-US" sz="2050" dirty="0">
              <a:latin typeface="Times New Roman" panose="02020603050405020304" pitchFamily="18" charset="0"/>
              <a:cs typeface="Times New Roman" panose="02020603050405020304" pitchFamily="18" charset="0"/>
            </a:endParaRPr>
          </a:p>
        </p:txBody>
      </p:sp>
      <p:sp>
        <p:nvSpPr>
          <p:cNvPr id="30" name="Text 6">
            <a:extLst>
              <a:ext uri="{FF2B5EF4-FFF2-40B4-BE49-F238E27FC236}">
                <a16:creationId xmlns:a16="http://schemas.microsoft.com/office/drawing/2014/main" id="{97F3B85D-6257-A88D-90B5-E0A09986FC56}"/>
              </a:ext>
            </a:extLst>
          </p:cNvPr>
          <p:cNvSpPr/>
          <p:nvPr/>
        </p:nvSpPr>
        <p:spPr>
          <a:xfrm>
            <a:off x="8127802" y="3985498"/>
            <a:ext cx="5768697" cy="671274"/>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Recognize the defining features, strengths, and limitations of each research approach</a:t>
            </a:r>
            <a:endParaRPr lang="en-US" sz="1650" dirty="0">
              <a:latin typeface="Times New Roman" panose="02020603050405020304" pitchFamily="18" charset="0"/>
              <a:cs typeface="Times New Roman" panose="02020603050405020304" pitchFamily="18" charset="0"/>
            </a:endParaRPr>
          </a:p>
        </p:txBody>
      </p:sp>
      <p:sp>
        <p:nvSpPr>
          <p:cNvPr id="31" name="Shape 7">
            <a:extLst>
              <a:ext uri="{FF2B5EF4-FFF2-40B4-BE49-F238E27FC236}">
                <a16:creationId xmlns:a16="http://schemas.microsoft.com/office/drawing/2014/main" id="{B6381CB2-76F5-EACA-6663-4EF6872B1B75}"/>
              </a:ext>
            </a:extLst>
          </p:cNvPr>
          <p:cNvSpPr/>
          <p:nvPr/>
        </p:nvSpPr>
        <p:spPr>
          <a:xfrm>
            <a:off x="734020" y="5411867"/>
            <a:ext cx="471845" cy="471845"/>
          </a:xfrm>
          <a:prstGeom prst="roundRect">
            <a:avLst>
              <a:gd name="adj" fmla="val 18669"/>
            </a:avLst>
          </a:prstGeom>
          <a:solidFill>
            <a:srgbClr val="DADBF1"/>
          </a:solidFill>
          <a:ln w="7620">
            <a:solidFill>
              <a:srgbClr val="C0C1D7"/>
            </a:solidFill>
            <a:prstDash val="solid"/>
          </a:ln>
        </p:spPr>
      </p:sp>
      <p:pic>
        <p:nvPicPr>
          <p:cNvPr id="32" name="Image 3" descr="preencoded.png">
            <a:extLst>
              <a:ext uri="{FF2B5EF4-FFF2-40B4-BE49-F238E27FC236}">
                <a16:creationId xmlns:a16="http://schemas.microsoft.com/office/drawing/2014/main" id="{053CAFAA-9DAA-6E92-631F-35F35101EBEA}"/>
              </a:ext>
            </a:extLst>
          </p:cNvPr>
          <p:cNvPicPr>
            <a:picLocks noChangeAspect="1"/>
          </p:cNvPicPr>
          <p:nvPr/>
        </p:nvPicPr>
        <p:blipFill>
          <a:blip r:embed="rId5"/>
          <a:stretch>
            <a:fillRect/>
          </a:stretch>
        </p:blipFill>
        <p:spPr>
          <a:xfrm>
            <a:off x="812602" y="5451158"/>
            <a:ext cx="314563" cy="393144"/>
          </a:xfrm>
          <a:prstGeom prst="rect">
            <a:avLst/>
          </a:prstGeom>
        </p:spPr>
      </p:pic>
      <p:sp>
        <p:nvSpPr>
          <p:cNvPr id="33" name="Text 8">
            <a:extLst>
              <a:ext uri="{FF2B5EF4-FFF2-40B4-BE49-F238E27FC236}">
                <a16:creationId xmlns:a16="http://schemas.microsoft.com/office/drawing/2014/main" id="{80122030-14B9-C15F-D374-9477B0C51029}"/>
              </a:ext>
            </a:extLst>
          </p:cNvPr>
          <p:cNvSpPr/>
          <p:nvPr/>
        </p:nvSpPr>
        <p:spPr>
          <a:xfrm>
            <a:off x="1415534" y="5483900"/>
            <a:ext cx="3594616" cy="327660"/>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Times New Roman" panose="02020603050405020304" pitchFamily="18" charset="0"/>
                <a:ea typeface="Inter Bold" pitchFamily="34" charset="-122"/>
                <a:cs typeface="Times New Roman" panose="02020603050405020304" pitchFamily="18" charset="0"/>
              </a:rPr>
              <a:t>Select Appropriate Methods</a:t>
            </a:r>
            <a:endParaRPr lang="en-US" sz="2050" dirty="0">
              <a:latin typeface="Times New Roman" panose="02020603050405020304" pitchFamily="18" charset="0"/>
              <a:cs typeface="Times New Roman" panose="02020603050405020304" pitchFamily="18" charset="0"/>
            </a:endParaRPr>
          </a:p>
        </p:txBody>
      </p:sp>
      <p:sp>
        <p:nvSpPr>
          <p:cNvPr id="34" name="Text 9">
            <a:extLst>
              <a:ext uri="{FF2B5EF4-FFF2-40B4-BE49-F238E27FC236}">
                <a16:creationId xmlns:a16="http://schemas.microsoft.com/office/drawing/2014/main" id="{07ADF722-BE28-1EE8-62DB-508BE24FA1E1}"/>
              </a:ext>
            </a:extLst>
          </p:cNvPr>
          <p:cNvSpPr/>
          <p:nvPr/>
        </p:nvSpPr>
        <p:spPr>
          <a:xfrm>
            <a:off x="1415534" y="5937290"/>
            <a:ext cx="5768697" cy="671274"/>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Develop the ability to choose research methodologies aligned with specific research questions and objectives</a:t>
            </a:r>
            <a:endParaRPr lang="en-US" sz="1650" dirty="0">
              <a:latin typeface="Times New Roman" panose="02020603050405020304" pitchFamily="18" charset="0"/>
              <a:cs typeface="Times New Roman" panose="02020603050405020304" pitchFamily="18" charset="0"/>
            </a:endParaRPr>
          </a:p>
        </p:txBody>
      </p:sp>
      <p:sp>
        <p:nvSpPr>
          <p:cNvPr id="35" name="Shape 10">
            <a:extLst>
              <a:ext uri="{FF2B5EF4-FFF2-40B4-BE49-F238E27FC236}">
                <a16:creationId xmlns:a16="http://schemas.microsoft.com/office/drawing/2014/main" id="{01F92EF7-40D4-F3F3-B3BA-961A37F9B4A6}"/>
              </a:ext>
            </a:extLst>
          </p:cNvPr>
          <p:cNvSpPr/>
          <p:nvPr/>
        </p:nvSpPr>
        <p:spPr>
          <a:xfrm>
            <a:off x="7446288" y="5411867"/>
            <a:ext cx="471845" cy="471845"/>
          </a:xfrm>
          <a:prstGeom prst="roundRect">
            <a:avLst>
              <a:gd name="adj" fmla="val 18669"/>
            </a:avLst>
          </a:prstGeom>
          <a:solidFill>
            <a:srgbClr val="DADBF1"/>
          </a:solidFill>
          <a:ln w="7620">
            <a:solidFill>
              <a:srgbClr val="C0C1D7"/>
            </a:solidFill>
            <a:prstDash val="solid"/>
          </a:ln>
        </p:spPr>
      </p:sp>
      <p:pic>
        <p:nvPicPr>
          <p:cNvPr id="36" name="Image 4" descr="preencoded.png">
            <a:extLst>
              <a:ext uri="{FF2B5EF4-FFF2-40B4-BE49-F238E27FC236}">
                <a16:creationId xmlns:a16="http://schemas.microsoft.com/office/drawing/2014/main" id="{1B64D813-5A11-495C-D70D-C5C6BB96C894}"/>
              </a:ext>
            </a:extLst>
          </p:cNvPr>
          <p:cNvPicPr>
            <a:picLocks noChangeAspect="1"/>
          </p:cNvPicPr>
          <p:nvPr/>
        </p:nvPicPr>
        <p:blipFill>
          <a:blip r:embed="rId6"/>
          <a:stretch>
            <a:fillRect/>
          </a:stretch>
        </p:blipFill>
        <p:spPr>
          <a:xfrm>
            <a:off x="7524869" y="5451158"/>
            <a:ext cx="314563" cy="393144"/>
          </a:xfrm>
          <a:prstGeom prst="rect">
            <a:avLst/>
          </a:prstGeom>
        </p:spPr>
      </p:pic>
      <p:sp>
        <p:nvSpPr>
          <p:cNvPr id="37" name="Text 11">
            <a:extLst>
              <a:ext uri="{FF2B5EF4-FFF2-40B4-BE49-F238E27FC236}">
                <a16:creationId xmlns:a16="http://schemas.microsoft.com/office/drawing/2014/main" id="{147DD1D6-C598-FF07-4DB2-D30E4B909BE5}"/>
              </a:ext>
            </a:extLst>
          </p:cNvPr>
          <p:cNvSpPr/>
          <p:nvPr/>
        </p:nvSpPr>
        <p:spPr>
          <a:xfrm>
            <a:off x="8127802" y="5483900"/>
            <a:ext cx="3527465" cy="327660"/>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Times New Roman" panose="02020603050405020304" pitchFamily="18" charset="0"/>
                <a:ea typeface="Inter Bold" pitchFamily="34" charset="-122"/>
                <a:cs typeface="Times New Roman" panose="02020603050405020304" pitchFamily="18" charset="0"/>
              </a:rPr>
              <a:t>Apply Research Knowledge</a:t>
            </a:r>
            <a:endParaRPr lang="en-US" sz="2050" dirty="0">
              <a:latin typeface="Times New Roman" panose="02020603050405020304" pitchFamily="18" charset="0"/>
              <a:cs typeface="Times New Roman" panose="02020603050405020304" pitchFamily="18" charset="0"/>
            </a:endParaRPr>
          </a:p>
        </p:txBody>
      </p:sp>
      <p:sp>
        <p:nvSpPr>
          <p:cNvPr id="38" name="Text 12">
            <a:extLst>
              <a:ext uri="{FF2B5EF4-FFF2-40B4-BE49-F238E27FC236}">
                <a16:creationId xmlns:a16="http://schemas.microsoft.com/office/drawing/2014/main" id="{38C5BCA5-6CF1-44CD-189B-5853AC3DF41B}"/>
              </a:ext>
            </a:extLst>
          </p:cNvPr>
          <p:cNvSpPr/>
          <p:nvPr/>
        </p:nvSpPr>
        <p:spPr>
          <a:xfrm>
            <a:off x="8127802" y="5937290"/>
            <a:ext cx="5768697" cy="671274"/>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Gain practical understanding of how to implement various methodologies in academic and professional settings</a:t>
            </a:r>
            <a:endParaRPr lang="en-US" sz="16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8782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BA46BDB-D911-0C88-0F6B-590E53ACDE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293822C-CA08-F9C1-625F-5A75C920C2BB}"/>
              </a:ext>
            </a:extLst>
          </p:cNvPr>
          <p:cNvSpPr/>
          <p:nvPr/>
        </p:nvSpPr>
        <p:spPr>
          <a:xfrm>
            <a:off x="562689" y="1818799"/>
            <a:ext cx="12035195" cy="570428"/>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Times New Roman" panose="02020603050405020304" pitchFamily="18" charset="0"/>
                <a:ea typeface="Inter Bold" pitchFamily="34" charset="-122"/>
                <a:cs typeface="Times New Roman" panose="02020603050405020304" pitchFamily="18" charset="0"/>
              </a:rPr>
              <a:t>Basic Research: Pursuing Knowledge for Its Own Sake</a:t>
            </a:r>
            <a:endParaRPr lang="en-US" sz="3550" dirty="0">
              <a:latin typeface="Times New Roman" panose="02020603050405020304" pitchFamily="18" charset="0"/>
              <a:cs typeface="Times New Roman" panose="02020603050405020304" pitchFamily="18" charset="0"/>
            </a:endParaRPr>
          </a:p>
        </p:txBody>
      </p:sp>
      <p:pic>
        <p:nvPicPr>
          <p:cNvPr id="3" name="Image 0" descr="preencoded.png">
            <a:extLst>
              <a:ext uri="{FF2B5EF4-FFF2-40B4-BE49-F238E27FC236}">
                <a16:creationId xmlns:a16="http://schemas.microsoft.com/office/drawing/2014/main" id="{E5AE3AA2-5A70-ADAB-4F36-CE4C426271B0}"/>
              </a:ext>
            </a:extLst>
          </p:cNvPr>
          <p:cNvPicPr>
            <a:picLocks noChangeAspect="1"/>
          </p:cNvPicPr>
          <p:nvPr/>
        </p:nvPicPr>
        <p:blipFill>
          <a:blip r:embed="rId3"/>
          <a:stretch>
            <a:fillRect/>
          </a:stretch>
        </p:blipFill>
        <p:spPr>
          <a:xfrm>
            <a:off x="2799159" y="2754273"/>
            <a:ext cx="2203133" cy="1051798"/>
          </a:xfrm>
          <a:prstGeom prst="rect">
            <a:avLst/>
          </a:prstGeom>
        </p:spPr>
      </p:pic>
      <p:pic>
        <p:nvPicPr>
          <p:cNvPr id="4" name="Image 1" descr="preencoded.png">
            <a:extLst>
              <a:ext uri="{FF2B5EF4-FFF2-40B4-BE49-F238E27FC236}">
                <a16:creationId xmlns:a16="http://schemas.microsoft.com/office/drawing/2014/main" id="{341D167A-80F7-CDE6-324A-AC89D7DEC83C}"/>
              </a:ext>
            </a:extLst>
          </p:cNvPr>
          <p:cNvPicPr>
            <a:picLocks noChangeAspect="1"/>
          </p:cNvPicPr>
          <p:nvPr/>
        </p:nvPicPr>
        <p:blipFill>
          <a:blip r:embed="rId4"/>
          <a:stretch>
            <a:fillRect/>
          </a:stretch>
        </p:blipFill>
        <p:spPr>
          <a:xfrm>
            <a:off x="3772376" y="3250049"/>
            <a:ext cx="256699" cy="320873"/>
          </a:xfrm>
          <a:prstGeom prst="rect">
            <a:avLst/>
          </a:prstGeom>
        </p:spPr>
      </p:pic>
      <p:sp>
        <p:nvSpPr>
          <p:cNvPr id="5" name="Text 1">
            <a:extLst>
              <a:ext uri="{FF2B5EF4-FFF2-40B4-BE49-F238E27FC236}">
                <a16:creationId xmlns:a16="http://schemas.microsoft.com/office/drawing/2014/main" id="{7EDF064B-BD54-D111-80C0-7C97387C2E1F}"/>
              </a:ext>
            </a:extLst>
          </p:cNvPr>
          <p:cNvSpPr/>
          <p:nvPr/>
        </p:nvSpPr>
        <p:spPr>
          <a:xfrm>
            <a:off x="5184815" y="2936796"/>
            <a:ext cx="2983706" cy="285274"/>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Times New Roman" panose="02020603050405020304" pitchFamily="18" charset="0"/>
                <a:ea typeface="Inter Bold" pitchFamily="34" charset="-122"/>
                <a:cs typeface="Times New Roman" panose="02020603050405020304" pitchFamily="18" charset="0"/>
              </a:rPr>
              <a:t>Theoretical Understanding</a:t>
            </a:r>
            <a:endParaRPr lang="en-US" sz="1750" dirty="0">
              <a:latin typeface="Times New Roman" panose="02020603050405020304" pitchFamily="18" charset="0"/>
              <a:cs typeface="Times New Roman" panose="02020603050405020304" pitchFamily="18" charset="0"/>
            </a:endParaRPr>
          </a:p>
        </p:txBody>
      </p:sp>
      <p:sp>
        <p:nvSpPr>
          <p:cNvPr id="6" name="Text 2">
            <a:extLst>
              <a:ext uri="{FF2B5EF4-FFF2-40B4-BE49-F238E27FC236}">
                <a16:creationId xmlns:a16="http://schemas.microsoft.com/office/drawing/2014/main" id="{CA51A0F3-4D06-A07C-CBCE-553F3862A400}"/>
              </a:ext>
            </a:extLst>
          </p:cNvPr>
          <p:cNvSpPr/>
          <p:nvPr/>
        </p:nvSpPr>
        <p:spPr>
          <a:xfrm>
            <a:off x="5184815" y="3331607"/>
            <a:ext cx="6167080" cy="291941"/>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Builds fundamental knowledge without immediate practical applications</a:t>
            </a:r>
            <a:endParaRPr lang="en-US" sz="1400" dirty="0">
              <a:latin typeface="Times New Roman" panose="02020603050405020304" pitchFamily="18" charset="0"/>
              <a:cs typeface="Times New Roman" panose="02020603050405020304" pitchFamily="18" charset="0"/>
            </a:endParaRPr>
          </a:p>
        </p:txBody>
      </p:sp>
      <p:sp>
        <p:nvSpPr>
          <p:cNvPr id="7" name="Shape 3">
            <a:extLst>
              <a:ext uri="{FF2B5EF4-FFF2-40B4-BE49-F238E27FC236}">
                <a16:creationId xmlns:a16="http://schemas.microsoft.com/office/drawing/2014/main" id="{2B9535D1-E4C6-D4D6-F0F7-523FC6D02FAB}"/>
              </a:ext>
            </a:extLst>
          </p:cNvPr>
          <p:cNvSpPr/>
          <p:nvPr/>
        </p:nvSpPr>
        <p:spPr>
          <a:xfrm>
            <a:off x="5047893" y="3819287"/>
            <a:ext cx="8821817" cy="11430"/>
          </a:xfrm>
          <a:prstGeom prst="roundRect">
            <a:avLst>
              <a:gd name="adj" fmla="val 670850"/>
            </a:avLst>
          </a:prstGeom>
          <a:solidFill>
            <a:srgbClr val="C0C1D7"/>
          </a:solidFill>
          <a:ln/>
        </p:spPr>
      </p:sp>
      <p:pic>
        <p:nvPicPr>
          <p:cNvPr id="8" name="Image 2" descr="preencoded.png">
            <a:extLst>
              <a:ext uri="{FF2B5EF4-FFF2-40B4-BE49-F238E27FC236}">
                <a16:creationId xmlns:a16="http://schemas.microsoft.com/office/drawing/2014/main" id="{5DC7278D-7DD9-2BBD-881E-C90CCD1E66DF}"/>
              </a:ext>
            </a:extLst>
          </p:cNvPr>
          <p:cNvPicPr>
            <a:picLocks noChangeAspect="1"/>
          </p:cNvPicPr>
          <p:nvPr/>
        </p:nvPicPr>
        <p:blipFill>
          <a:blip r:embed="rId5"/>
          <a:stretch>
            <a:fillRect/>
          </a:stretch>
        </p:blipFill>
        <p:spPr>
          <a:xfrm>
            <a:off x="1697593" y="3851672"/>
            <a:ext cx="4406265" cy="1051798"/>
          </a:xfrm>
          <a:prstGeom prst="rect">
            <a:avLst/>
          </a:prstGeom>
        </p:spPr>
      </p:pic>
      <p:pic>
        <p:nvPicPr>
          <p:cNvPr id="9" name="Image 3" descr="preencoded.png">
            <a:extLst>
              <a:ext uri="{FF2B5EF4-FFF2-40B4-BE49-F238E27FC236}">
                <a16:creationId xmlns:a16="http://schemas.microsoft.com/office/drawing/2014/main" id="{EAB1308C-423B-288A-DA34-7339313910ED}"/>
              </a:ext>
            </a:extLst>
          </p:cNvPr>
          <p:cNvPicPr>
            <a:picLocks noChangeAspect="1"/>
          </p:cNvPicPr>
          <p:nvPr/>
        </p:nvPicPr>
        <p:blipFill>
          <a:blip r:embed="rId6"/>
          <a:stretch>
            <a:fillRect/>
          </a:stretch>
        </p:blipFill>
        <p:spPr>
          <a:xfrm>
            <a:off x="3772257" y="4217075"/>
            <a:ext cx="256699" cy="320873"/>
          </a:xfrm>
          <a:prstGeom prst="rect">
            <a:avLst/>
          </a:prstGeom>
        </p:spPr>
      </p:pic>
      <p:sp>
        <p:nvSpPr>
          <p:cNvPr id="10" name="Text 4">
            <a:extLst>
              <a:ext uri="{FF2B5EF4-FFF2-40B4-BE49-F238E27FC236}">
                <a16:creationId xmlns:a16="http://schemas.microsoft.com/office/drawing/2014/main" id="{B7CA8F6E-DF9D-08DF-5F83-FCEADED1B14E}"/>
              </a:ext>
            </a:extLst>
          </p:cNvPr>
          <p:cNvSpPr/>
          <p:nvPr/>
        </p:nvSpPr>
        <p:spPr>
          <a:xfrm>
            <a:off x="6286381" y="4034195"/>
            <a:ext cx="2282071" cy="285274"/>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Times New Roman" panose="02020603050405020304" pitchFamily="18" charset="0"/>
                <a:ea typeface="Inter Bold" pitchFamily="34" charset="-122"/>
                <a:cs typeface="Times New Roman" panose="02020603050405020304" pitchFamily="18" charset="0"/>
              </a:rPr>
              <a:t>Curiosity-Driven</a:t>
            </a:r>
            <a:endParaRPr lang="en-US" sz="1750" dirty="0">
              <a:latin typeface="Times New Roman" panose="02020603050405020304" pitchFamily="18" charset="0"/>
              <a:cs typeface="Times New Roman" panose="02020603050405020304" pitchFamily="18" charset="0"/>
            </a:endParaRPr>
          </a:p>
        </p:txBody>
      </p:sp>
      <p:sp>
        <p:nvSpPr>
          <p:cNvPr id="11" name="Text 5">
            <a:extLst>
              <a:ext uri="{FF2B5EF4-FFF2-40B4-BE49-F238E27FC236}">
                <a16:creationId xmlns:a16="http://schemas.microsoft.com/office/drawing/2014/main" id="{27C2C9F5-E8BF-EA92-806B-17939729076B}"/>
              </a:ext>
            </a:extLst>
          </p:cNvPr>
          <p:cNvSpPr/>
          <p:nvPr/>
        </p:nvSpPr>
        <p:spPr>
          <a:xfrm>
            <a:off x="6286381" y="4429006"/>
            <a:ext cx="4954905" cy="291941"/>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Motivated by intellectual inquiry and scientific exploration</a:t>
            </a:r>
            <a:endParaRPr lang="en-US" sz="1400" dirty="0">
              <a:latin typeface="Times New Roman" panose="02020603050405020304" pitchFamily="18" charset="0"/>
              <a:cs typeface="Times New Roman" panose="02020603050405020304" pitchFamily="18" charset="0"/>
            </a:endParaRPr>
          </a:p>
        </p:txBody>
      </p:sp>
      <p:sp>
        <p:nvSpPr>
          <p:cNvPr id="12" name="Shape 6">
            <a:extLst>
              <a:ext uri="{FF2B5EF4-FFF2-40B4-BE49-F238E27FC236}">
                <a16:creationId xmlns:a16="http://schemas.microsoft.com/office/drawing/2014/main" id="{851EA242-CCF8-0B11-BA13-F778E5AA60CA}"/>
              </a:ext>
            </a:extLst>
          </p:cNvPr>
          <p:cNvSpPr/>
          <p:nvPr/>
        </p:nvSpPr>
        <p:spPr>
          <a:xfrm>
            <a:off x="6149459" y="4916686"/>
            <a:ext cx="7720251" cy="11430"/>
          </a:xfrm>
          <a:prstGeom prst="roundRect">
            <a:avLst>
              <a:gd name="adj" fmla="val 670850"/>
            </a:avLst>
          </a:prstGeom>
          <a:solidFill>
            <a:srgbClr val="C0C1D7"/>
          </a:solidFill>
          <a:ln/>
        </p:spPr>
      </p:sp>
      <p:pic>
        <p:nvPicPr>
          <p:cNvPr id="13" name="Image 4" descr="preencoded.png">
            <a:extLst>
              <a:ext uri="{FF2B5EF4-FFF2-40B4-BE49-F238E27FC236}">
                <a16:creationId xmlns:a16="http://schemas.microsoft.com/office/drawing/2014/main" id="{1664EF7A-4667-A04A-4B7A-C5CB6FAFD83D}"/>
              </a:ext>
            </a:extLst>
          </p:cNvPr>
          <p:cNvPicPr>
            <a:picLocks noChangeAspect="1"/>
          </p:cNvPicPr>
          <p:nvPr/>
        </p:nvPicPr>
        <p:blipFill>
          <a:blip r:embed="rId7"/>
          <a:stretch>
            <a:fillRect/>
          </a:stretch>
        </p:blipFill>
        <p:spPr>
          <a:xfrm>
            <a:off x="596027" y="4949071"/>
            <a:ext cx="6609517" cy="1051798"/>
          </a:xfrm>
          <a:prstGeom prst="rect">
            <a:avLst/>
          </a:prstGeom>
        </p:spPr>
      </p:pic>
      <p:pic>
        <p:nvPicPr>
          <p:cNvPr id="14" name="Image 5" descr="preencoded.png">
            <a:extLst>
              <a:ext uri="{FF2B5EF4-FFF2-40B4-BE49-F238E27FC236}">
                <a16:creationId xmlns:a16="http://schemas.microsoft.com/office/drawing/2014/main" id="{4F3854B4-E85C-D338-3C57-CCED1F91EBB8}"/>
              </a:ext>
            </a:extLst>
          </p:cNvPr>
          <p:cNvPicPr>
            <a:picLocks noChangeAspect="1"/>
          </p:cNvPicPr>
          <p:nvPr/>
        </p:nvPicPr>
        <p:blipFill>
          <a:blip r:embed="rId8"/>
          <a:stretch>
            <a:fillRect/>
          </a:stretch>
        </p:blipFill>
        <p:spPr>
          <a:xfrm>
            <a:off x="3772376" y="5314474"/>
            <a:ext cx="256699" cy="320873"/>
          </a:xfrm>
          <a:prstGeom prst="rect">
            <a:avLst/>
          </a:prstGeom>
        </p:spPr>
      </p:pic>
      <p:sp>
        <p:nvSpPr>
          <p:cNvPr id="15" name="Text 7">
            <a:extLst>
              <a:ext uri="{FF2B5EF4-FFF2-40B4-BE49-F238E27FC236}">
                <a16:creationId xmlns:a16="http://schemas.microsoft.com/office/drawing/2014/main" id="{ADBA2D7D-5C48-5C72-595A-34CF253E1F5B}"/>
              </a:ext>
            </a:extLst>
          </p:cNvPr>
          <p:cNvSpPr/>
          <p:nvPr/>
        </p:nvSpPr>
        <p:spPr>
          <a:xfrm>
            <a:off x="7388066" y="5131594"/>
            <a:ext cx="2282071" cy="285274"/>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Times New Roman" panose="02020603050405020304" pitchFamily="18" charset="0"/>
                <a:ea typeface="Inter Bold" pitchFamily="34" charset="-122"/>
                <a:cs typeface="Times New Roman" panose="02020603050405020304" pitchFamily="18" charset="0"/>
              </a:rPr>
              <a:t>Academic Settings</a:t>
            </a:r>
            <a:endParaRPr lang="en-US" sz="1750" dirty="0">
              <a:latin typeface="Times New Roman" panose="02020603050405020304" pitchFamily="18" charset="0"/>
              <a:cs typeface="Times New Roman" panose="02020603050405020304" pitchFamily="18" charset="0"/>
            </a:endParaRPr>
          </a:p>
        </p:txBody>
      </p:sp>
      <p:sp>
        <p:nvSpPr>
          <p:cNvPr id="16" name="Text 8">
            <a:extLst>
              <a:ext uri="{FF2B5EF4-FFF2-40B4-BE49-F238E27FC236}">
                <a16:creationId xmlns:a16="http://schemas.microsoft.com/office/drawing/2014/main" id="{6DF3FB7B-1BAF-9391-7ABE-FA91099D62BA}"/>
              </a:ext>
            </a:extLst>
          </p:cNvPr>
          <p:cNvSpPr/>
          <p:nvPr/>
        </p:nvSpPr>
        <p:spPr>
          <a:xfrm>
            <a:off x="7388066" y="5526405"/>
            <a:ext cx="6126480" cy="291941"/>
          </a:xfrm>
          <a:prstGeom prst="rect">
            <a:avLst/>
          </a:prstGeom>
          <a:noFill/>
          <a:ln/>
        </p:spPr>
        <p:txBody>
          <a:bodyPr wrap="none" lIns="0" tIns="0" rIns="0" bIns="0" rtlCol="0" anchor="t"/>
          <a:lstStyle/>
          <a:p>
            <a:pPr marL="0" indent="0" algn="l">
              <a:lnSpc>
                <a:spcPts val="230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Typically conducted in controlled laboratory or university environments</a:t>
            </a:r>
            <a:endParaRPr lang="en-US" sz="1400" dirty="0">
              <a:latin typeface="Times New Roman" panose="02020603050405020304" pitchFamily="18" charset="0"/>
              <a:cs typeface="Times New Roman" panose="02020603050405020304" pitchFamily="18" charset="0"/>
            </a:endParaRPr>
          </a:p>
        </p:txBody>
      </p:sp>
      <p:sp>
        <p:nvSpPr>
          <p:cNvPr id="17" name="Text 9">
            <a:extLst>
              <a:ext uri="{FF2B5EF4-FFF2-40B4-BE49-F238E27FC236}">
                <a16:creationId xmlns:a16="http://schemas.microsoft.com/office/drawing/2014/main" id="{A150567D-DD34-7155-A476-BC2FDCCF97F7}"/>
              </a:ext>
            </a:extLst>
          </p:cNvPr>
          <p:cNvSpPr/>
          <p:nvPr/>
        </p:nvSpPr>
        <p:spPr>
          <a:xfrm>
            <a:off x="562689" y="6206252"/>
            <a:ext cx="13352621" cy="875824"/>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Basic research forms the foundation of scientific advancement by exploring fundamental principles and theories without immediate practical applications. Also known as pure or fundamental research, it addresses "why" and "how" questions about natural phenomena, seeking to expand human knowledge for its own sake.</a:t>
            </a:r>
            <a:endParaRPr lang="en-US" sz="1400" dirty="0">
              <a:latin typeface="Times New Roman" panose="02020603050405020304" pitchFamily="18" charset="0"/>
              <a:cs typeface="Times New Roman" panose="02020603050405020304" pitchFamily="18" charset="0"/>
            </a:endParaRPr>
          </a:p>
        </p:txBody>
      </p:sp>
      <p:sp>
        <p:nvSpPr>
          <p:cNvPr id="18" name="Text 10">
            <a:extLst>
              <a:ext uri="{FF2B5EF4-FFF2-40B4-BE49-F238E27FC236}">
                <a16:creationId xmlns:a16="http://schemas.microsoft.com/office/drawing/2014/main" id="{C5DAE707-0B1F-DA5C-A88C-28D0D9B80F85}"/>
              </a:ext>
            </a:extLst>
          </p:cNvPr>
          <p:cNvSpPr/>
          <p:nvPr/>
        </p:nvSpPr>
        <p:spPr>
          <a:xfrm>
            <a:off x="562689" y="7287458"/>
            <a:ext cx="13352621" cy="875824"/>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This approach generates theoretical frameworks that often lead to unexpected discoveries and innovations. For example, quantum mechanics began as basic research into atomic structure but eventually enabled technologies like computers and lasers. The findings typically contribute to long-term scientific progress across multiple disciplines.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4504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1ABECC3-9B0E-B514-B1D5-75ED99B1E94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813B4BE-2AC4-AFCA-82CF-1553A539D2EA}"/>
              </a:ext>
            </a:extLst>
          </p:cNvPr>
          <p:cNvSpPr/>
          <p:nvPr/>
        </p:nvSpPr>
        <p:spPr>
          <a:xfrm>
            <a:off x="1260118" y="501134"/>
            <a:ext cx="10654903" cy="5694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Times New Roman" panose="02020603050405020304" pitchFamily="18" charset="0"/>
                <a:ea typeface="Inter Bold" pitchFamily="34" charset="-122"/>
                <a:cs typeface="Times New Roman" panose="02020603050405020304" pitchFamily="18" charset="0"/>
              </a:rPr>
              <a:t>Applied Research: Solving Real-World Problems</a:t>
            </a:r>
            <a:endParaRPr lang="en-US" sz="355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9B6A2AF4-472B-66C8-C2A5-F6AA94C09D33}"/>
              </a:ext>
            </a:extLst>
          </p:cNvPr>
          <p:cNvSpPr/>
          <p:nvPr/>
        </p:nvSpPr>
        <p:spPr>
          <a:xfrm>
            <a:off x="3049270" y="2046684"/>
            <a:ext cx="2277904" cy="284678"/>
          </a:xfrm>
          <a:prstGeom prst="rect">
            <a:avLst/>
          </a:prstGeom>
          <a:noFill/>
          <a:ln/>
        </p:spPr>
        <p:txBody>
          <a:bodyPr wrap="none" lIns="0" tIns="0" rIns="0" bIns="0" rtlCol="0" anchor="t"/>
          <a:lstStyle/>
          <a:p>
            <a:pPr marL="0" indent="0" algn="r">
              <a:lnSpc>
                <a:spcPts val="2200"/>
              </a:lnSpc>
              <a:buNone/>
            </a:pPr>
            <a:r>
              <a:rPr lang="en-US" sz="1750" b="1" dirty="0">
                <a:solidFill>
                  <a:srgbClr val="272525"/>
                </a:solidFill>
                <a:latin typeface="Times New Roman" panose="02020603050405020304" pitchFamily="18" charset="0"/>
                <a:ea typeface="Inter Bold" pitchFamily="34" charset="-122"/>
                <a:cs typeface="Times New Roman" panose="02020603050405020304" pitchFamily="18" charset="0"/>
              </a:rPr>
              <a:t>Identify Problem</a:t>
            </a:r>
            <a:endParaRPr lang="en-US" sz="175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7BB094A9-789C-A52B-B144-44A2F2EFA661}"/>
              </a:ext>
            </a:extLst>
          </p:cNvPr>
          <p:cNvSpPr/>
          <p:nvPr/>
        </p:nvSpPr>
        <p:spPr>
          <a:xfrm>
            <a:off x="1260118" y="2440662"/>
            <a:ext cx="4067056" cy="583168"/>
          </a:xfrm>
          <a:prstGeom prst="rect">
            <a:avLst/>
          </a:prstGeom>
          <a:noFill/>
          <a:ln/>
        </p:spPr>
        <p:txBody>
          <a:bodyPr wrap="square" lIns="0" tIns="0" rIns="0" bIns="0" rtlCol="0" anchor="t"/>
          <a:lstStyle/>
          <a:p>
            <a:pPr marL="0" indent="0" algn="r">
              <a:lnSpc>
                <a:spcPts val="225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Recognize specific practical challenges requiring solutions</a:t>
            </a:r>
            <a:endParaRPr lang="en-US" sz="1400" dirty="0">
              <a:latin typeface="Times New Roman" panose="02020603050405020304" pitchFamily="18" charset="0"/>
              <a:cs typeface="Times New Roman" panose="02020603050405020304" pitchFamily="18" charset="0"/>
            </a:endParaRPr>
          </a:p>
        </p:txBody>
      </p:sp>
      <p:pic>
        <p:nvPicPr>
          <p:cNvPr id="5" name="Image 0" descr="preencoded.png">
            <a:extLst>
              <a:ext uri="{FF2B5EF4-FFF2-40B4-BE49-F238E27FC236}">
                <a16:creationId xmlns:a16="http://schemas.microsoft.com/office/drawing/2014/main" id="{7CB2C95D-ED24-250B-53B9-B69FEC0634AD}"/>
              </a:ext>
            </a:extLst>
          </p:cNvPr>
          <p:cNvPicPr>
            <a:picLocks noChangeAspect="1"/>
          </p:cNvPicPr>
          <p:nvPr/>
        </p:nvPicPr>
        <p:blipFill>
          <a:blip r:embed="rId3"/>
          <a:stretch>
            <a:fillRect/>
          </a:stretch>
        </p:blipFill>
        <p:spPr>
          <a:xfrm>
            <a:off x="5600422" y="1435060"/>
            <a:ext cx="4674156" cy="4674156"/>
          </a:xfrm>
          <a:prstGeom prst="rect">
            <a:avLst/>
          </a:prstGeom>
        </p:spPr>
      </p:pic>
      <p:pic>
        <p:nvPicPr>
          <p:cNvPr id="6" name="Image 1" descr="preencoded.png">
            <a:extLst>
              <a:ext uri="{FF2B5EF4-FFF2-40B4-BE49-F238E27FC236}">
                <a16:creationId xmlns:a16="http://schemas.microsoft.com/office/drawing/2014/main" id="{AC06B845-EA3A-1714-63D1-40ABD007AA6F}"/>
              </a:ext>
            </a:extLst>
          </p:cNvPr>
          <p:cNvPicPr>
            <a:picLocks noChangeAspect="1"/>
          </p:cNvPicPr>
          <p:nvPr/>
        </p:nvPicPr>
        <p:blipFill>
          <a:blip r:embed="rId4"/>
          <a:stretch>
            <a:fillRect/>
          </a:stretch>
        </p:blipFill>
        <p:spPr>
          <a:xfrm>
            <a:off x="6860461" y="2263259"/>
            <a:ext cx="272653" cy="340757"/>
          </a:xfrm>
          <a:prstGeom prst="rect">
            <a:avLst/>
          </a:prstGeom>
        </p:spPr>
      </p:pic>
      <p:sp>
        <p:nvSpPr>
          <p:cNvPr id="7" name="Text 3">
            <a:extLst>
              <a:ext uri="{FF2B5EF4-FFF2-40B4-BE49-F238E27FC236}">
                <a16:creationId xmlns:a16="http://schemas.microsoft.com/office/drawing/2014/main" id="{C420D8E1-4850-F8F3-C60A-1DC2866119D0}"/>
              </a:ext>
            </a:extLst>
          </p:cNvPr>
          <p:cNvSpPr/>
          <p:nvPr/>
        </p:nvSpPr>
        <p:spPr>
          <a:xfrm>
            <a:off x="10547826" y="2046684"/>
            <a:ext cx="2277904" cy="284678"/>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Times New Roman" panose="02020603050405020304" pitchFamily="18" charset="0"/>
                <a:ea typeface="Inter Bold" pitchFamily="34" charset="-122"/>
                <a:cs typeface="Times New Roman" panose="02020603050405020304" pitchFamily="18" charset="0"/>
              </a:rPr>
              <a:t>Apply Knowledge</a:t>
            </a:r>
            <a:endParaRPr lang="en-US" sz="1750" dirty="0">
              <a:latin typeface="Times New Roman" panose="02020603050405020304" pitchFamily="18" charset="0"/>
              <a:cs typeface="Times New Roman" panose="02020603050405020304" pitchFamily="18" charset="0"/>
            </a:endParaRPr>
          </a:p>
        </p:txBody>
      </p:sp>
      <p:sp>
        <p:nvSpPr>
          <p:cNvPr id="8" name="Text 4">
            <a:extLst>
              <a:ext uri="{FF2B5EF4-FFF2-40B4-BE49-F238E27FC236}">
                <a16:creationId xmlns:a16="http://schemas.microsoft.com/office/drawing/2014/main" id="{ACA0CD08-B4F4-7A4A-6D6A-8F6E3761363B}"/>
              </a:ext>
            </a:extLst>
          </p:cNvPr>
          <p:cNvSpPr/>
          <p:nvPr/>
        </p:nvSpPr>
        <p:spPr>
          <a:xfrm>
            <a:off x="10547826" y="2440662"/>
            <a:ext cx="4067056" cy="583168"/>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Utilize existing scientific theories and principles</a:t>
            </a:r>
            <a:endParaRPr lang="en-US" sz="1400" dirty="0">
              <a:latin typeface="Times New Roman" panose="02020603050405020304" pitchFamily="18" charset="0"/>
              <a:cs typeface="Times New Roman" panose="02020603050405020304" pitchFamily="18" charset="0"/>
            </a:endParaRPr>
          </a:p>
        </p:txBody>
      </p:sp>
      <p:pic>
        <p:nvPicPr>
          <p:cNvPr id="9" name="Image 2" descr="preencoded.png">
            <a:extLst>
              <a:ext uri="{FF2B5EF4-FFF2-40B4-BE49-F238E27FC236}">
                <a16:creationId xmlns:a16="http://schemas.microsoft.com/office/drawing/2014/main" id="{61BF6E70-160B-2805-6FF0-879B428E9399}"/>
              </a:ext>
            </a:extLst>
          </p:cNvPr>
          <p:cNvPicPr>
            <a:picLocks noChangeAspect="1"/>
          </p:cNvPicPr>
          <p:nvPr/>
        </p:nvPicPr>
        <p:blipFill>
          <a:blip r:embed="rId5"/>
          <a:stretch>
            <a:fillRect/>
          </a:stretch>
        </p:blipFill>
        <p:spPr>
          <a:xfrm>
            <a:off x="5600422" y="1435060"/>
            <a:ext cx="4674156" cy="4674156"/>
          </a:xfrm>
          <a:prstGeom prst="rect">
            <a:avLst/>
          </a:prstGeom>
        </p:spPr>
      </p:pic>
      <p:sp>
        <p:nvSpPr>
          <p:cNvPr id="10" name="Text 5">
            <a:extLst>
              <a:ext uri="{FF2B5EF4-FFF2-40B4-BE49-F238E27FC236}">
                <a16:creationId xmlns:a16="http://schemas.microsoft.com/office/drawing/2014/main" id="{16F19EE8-14D5-D36C-59C2-9DE1FFFE2B6F}"/>
              </a:ext>
            </a:extLst>
          </p:cNvPr>
          <p:cNvSpPr/>
          <p:nvPr/>
        </p:nvSpPr>
        <p:spPr>
          <a:xfrm>
            <a:off x="9139555" y="2661047"/>
            <a:ext cx="272653" cy="340757"/>
          </a:xfrm>
          <a:prstGeom prst="rect">
            <a:avLst/>
          </a:prstGeom>
          <a:noFill/>
          <a:ln/>
        </p:spPr>
        <p:txBody>
          <a:bodyPr wrap="none" lIns="0" tIns="0" rIns="0" bIns="0" rtlCol="0" anchor="t"/>
          <a:lstStyle/>
          <a:p>
            <a:pPr marL="0" indent="0" algn="l">
              <a:lnSpc>
                <a:spcPts val="3400"/>
              </a:lnSpc>
              <a:buNone/>
            </a:pPr>
            <a:r>
              <a:rPr lang="en-US" sz="2100" b="1" dirty="0">
                <a:solidFill>
                  <a:srgbClr val="272525"/>
                </a:solidFill>
                <a:latin typeface="Times New Roman" panose="02020603050405020304" pitchFamily="18" charset="0"/>
                <a:ea typeface="Inter Bold" pitchFamily="34" charset="-122"/>
                <a:cs typeface="Times New Roman" panose="02020603050405020304" pitchFamily="18" charset="0"/>
              </a:rPr>
              <a:t>2</a:t>
            </a:r>
            <a:endParaRPr lang="en-US" sz="2100" dirty="0">
              <a:latin typeface="Times New Roman" panose="02020603050405020304" pitchFamily="18" charset="0"/>
              <a:cs typeface="Times New Roman" panose="02020603050405020304" pitchFamily="18" charset="0"/>
            </a:endParaRPr>
          </a:p>
        </p:txBody>
      </p:sp>
      <p:sp>
        <p:nvSpPr>
          <p:cNvPr id="11" name="Text 6">
            <a:extLst>
              <a:ext uri="{FF2B5EF4-FFF2-40B4-BE49-F238E27FC236}">
                <a16:creationId xmlns:a16="http://schemas.microsoft.com/office/drawing/2014/main" id="{B1FB88D6-9267-E759-E258-97A6B393C547}"/>
              </a:ext>
            </a:extLst>
          </p:cNvPr>
          <p:cNvSpPr/>
          <p:nvPr/>
        </p:nvSpPr>
        <p:spPr>
          <a:xfrm>
            <a:off x="10547826" y="4520327"/>
            <a:ext cx="2277904" cy="284678"/>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Times New Roman" panose="02020603050405020304" pitchFamily="18" charset="0"/>
                <a:ea typeface="Inter Bold" pitchFamily="34" charset="-122"/>
                <a:cs typeface="Times New Roman" panose="02020603050405020304" pitchFamily="18" charset="0"/>
              </a:rPr>
              <a:t>Develop Solution</a:t>
            </a:r>
            <a:endParaRPr lang="en-US" sz="1750" dirty="0">
              <a:latin typeface="Times New Roman" panose="02020603050405020304" pitchFamily="18" charset="0"/>
              <a:cs typeface="Times New Roman" panose="02020603050405020304" pitchFamily="18" charset="0"/>
            </a:endParaRPr>
          </a:p>
        </p:txBody>
      </p:sp>
      <p:sp>
        <p:nvSpPr>
          <p:cNvPr id="12" name="Text 7">
            <a:extLst>
              <a:ext uri="{FF2B5EF4-FFF2-40B4-BE49-F238E27FC236}">
                <a16:creationId xmlns:a16="http://schemas.microsoft.com/office/drawing/2014/main" id="{F6AFD226-E186-E824-9A35-8FDC4613B617}"/>
              </a:ext>
            </a:extLst>
          </p:cNvPr>
          <p:cNvSpPr/>
          <p:nvPr/>
        </p:nvSpPr>
        <p:spPr>
          <a:xfrm>
            <a:off x="10547826" y="4914305"/>
            <a:ext cx="4067056" cy="583168"/>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Create tangible products, processes, or interventions</a:t>
            </a:r>
            <a:endParaRPr lang="en-US" sz="1400" dirty="0">
              <a:latin typeface="Times New Roman" panose="02020603050405020304" pitchFamily="18" charset="0"/>
              <a:cs typeface="Times New Roman" panose="02020603050405020304" pitchFamily="18" charset="0"/>
            </a:endParaRPr>
          </a:p>
        </p:txBody>
      </p:sp>
      <p:pic>
        <p:nvPicPr>
          <p:cNvPr id="13" name="Image 3" descr="preencoded.png">
            <a:extLst>
              <a:ext uri="{FF2B5EF4-FFF2-40B4-BE49-F238E27FC236}">
                <a16:creationId xmlns:a16="http://schemas.microsoft.com/office/drawing/2014/main" id="{79C35C9F-2919-0655-8F6D-68ED30748317}"/>
              </a:ext>
            </a:extLst>
          </p:cNvPr>
          <p:cNvPicPr>
            <a:picLocks noChangeAspect="1"/>
          </p:cNvPicPr>
          <p:nvPr/>
        </p:nvPicPr>
        <p:blipFill>
          <a:blip r:embed="rId6"/>
          <a:stretch>
            <a:fillRect/>
          </a:stretch>
        </p:blipFill>
        <p:spPr>
          <a:xfrm>
            <a:off x="5600422" y="1435060"/>
            <a:ext cx="4674156" cy="4674156"/>
          </a:xfrm>
          <a:prstGeom prst="rect">
            <a:avLst/>
          </a:prstGeom>
        </p:spPr>
      </p:pic>
      <p:pic>
        <p:nvPicPr>
          <p:cNvPr id="14" name="Image 4" descr="preencoded.png">
            <a:extLst>
              <a:ext uri="{FF2B5EF4-FFF2-40B4-BE49-F238E27FC236}">
                <a16:creationId xmlns:a16="http://schemas.microsoft.com/office/drawing/2014/main" id="{1F2F6F91-CB6D-11C0-69A8-B83F6D0F1269}"/>
              </a:ext>
            </a:extLst>
          </p:cNvPr>
          <p:cNvPicPr>
            <a:picLocks noChangeAspect="1"/>
          </p:cNvPicPr>
          <p:nvPr/>
        </p:nvPicPr>
        <p:blipFill>
          <a:blip r:embed="rId7"/>
          <a:stretch>
            <a:fillRect/>
          </a:stretch>
        </p:blipFill>
        <p:spPr>
          <a:xfrm>
            <a:off x="8741767" y="4940141"/>
            <a:ext cx="272653" cy="340757"/>
          </a:xfrm>
          <a:prstGeom prst="rect">
            <a:avLst/>
          </a:prstGeom>
        </p:spPr>
      </p:pic>
      <p:sp>
        <p:nvSpPr>
          <p:cNvPr id="15" name="Text 8">
            <a:extLst>
              <a:ext uri="{FF2B5EF4-FFF2-40B4-BE49-F238E27FC236}">
                <a16:creationId xmlns:a16="http://schemas.microsoft.com/office/drawing/2014/main" id="{27E9E5DB-ADB1-816A-F00C-3F0337BA5EEE}"/>
              </a:ext>
            </a:extLst>
          </p:cNvPr>
          <p:cNvSpPr/>
          <p:nvPr/>
        </p:nvSpPr>
        <p:spPr>
          <a:xfrm>
            <a:off x="2928422" y="4666178"/>
            <a:ext cx="2398752" cy="284678"/>
          </a:xfrm>
          <a:prstGeom prst="rect">
            <a:avLst/>
          </a:prstGeom>
          <a:noFill/>
          <a:ln/>
        </p:spPr>
        <p:txBody>
          <a:bodyPr wrap="none" lIns="0" tIns="0" rIns="0" bIns="0" rtlCol="0" anchor="t"/>
          <a:lstStyle/>
          <a:p>
            <a:pPr marL="0" indent="0" algn="r">
              <a:lnSpc>
                <a:spcPts val="2200"/>
              </a:lnSpc>
              <a:buNone/>
            </a:pPr>
            <a:r>
              <a:rPr lang="en-US" sz="1750" b="1" dirty="0">
                <a:solidFill>
                  <a:srgbClr val="272525"/>
                </a:solidFill>
                <a:latin typeface="Times New Roman" panose="02020603050405020304" pitchFamily="18" charset="0"/>
                <a:ea typeface="Inter Bold" pitchFamily="34" charset="-122"/>
                <a:cs typeface="Times New Roman" panose="02020603050405020304" pitchFamily="18" charset="0"/>
              </a:rPr>
              <a:t>Implement &amp; Evaluate</a:t>
            </a:r>
            <a:endParaRPr lang="en-US" sz="1750" dirty="0">
              <a:latin typeface="Times New Roman" panose="02020603050405020304" pitchFamily="18" charset="0"/>
              <a:cs typeface="Times New Roman" panose="02020603050405020304" pitchFamily="18" charset="0"/>
            </a:endParaRPr>
          </a:p>
        </p:txBody>
      </p:sp>
      <p:sp>
        <p:nvSpPr>
          <p:cNvPr id="16" name="Text 9">
            <a:extLst>
              <a:ext uri="{FF2B5EF4-FFF2-40B4-BE49-F238E27FC236}">
                <a16:creationId xmlns:a16="http://schemas.microsoft.com/office/drawing/2014/main" id="{A9D48E2D-9308-0A23-0732-776E4599BA79}"/>
              </a:ext>
            </a:extLst>
          </p:cNvPr>
          <p:cNvSpPr/>
          <p:nvPr/>
        </p:nvSpPr>
        <p:spPr>
          <a:xfrm>
            <a:off x="1260118" y="5060156"/>
            <a:ext cx="4067056" cy="291584"/>
          </a:xfrm>
          <a:prstGeom prst="rect">
            <a:avLst/>
          </a:prstGeom>
          <a:noFill/>
          <a:ln/>
        </p:spPr>
        <p:txBody>
          <a:bodyPr wrap="none" lIns="0" tIns="0" rIns="0" bIns="0" rtlCol="0" anchor="t"/>
          <a:lstStyle/>
          <a:p>
            <a:pPr marL="0" indent="0" algn="r">
              <a:lnSpc>
                <a:spcPts val="225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Test effectiveness in real-world contexts</a:t>
            </a:r>
            <a:endParaRPr lang="en-US" sz="1400" dirty="0">
              <a:latin typeface="Times New Roman" panose="02020603050405020304" pitchFamily="18" charset="0"/>
              <a:cs typeface="Times New Roman" panose="02020603050405020304" pitchFamily="18" charset="0"/>
            </a:endParaRPr>
          </a:p>
        </p:txBody>
      </p:sp>
      <p:pic>
        <p:nvPicPr>
          <p:cNvPr id="17" name="Image 5" descr="preencoded.png">
            <a:extLst>
              <a:ext uri="{FF2B5EF4-FFF2-40B4-BE49-F238E27FC236}">
                <a16:creationId xmlns:a16="http://schemas.microsoft.com/office/drawing/2014/main" id="{4D97145C-F622-F97E-C3EF-E7C976144C9E}"/>
              </a:ext>
            </a:extLst>
          </p:cNvPr>
          <p:cNvPicPr>
            <a:picLocks noChangeAspect="1"/>
          </p:cNvPicPr>
          <p:nvPr/>
        </p:nvPicPr>
        <p:blipFill>
          <a:blip r:embed="rId8"/>
          <a:stretch>
            <a:fillRect/>
          </a:stretch>
        </p:blipFill>
        <p:spPr>
          <a:xfrm>
            <a:off x="5600422" y="1435060"/>
            <a:ext cx="4674156" cy="4674156"/>
          </a:xfrm>
          <a:prstGeom prst="rect">
            <a:avLst/>
          </a:prstGeom>
        </p:spPr>
      </p:pic>
      <p:pic>
        <p:nvPicPr>
          <p:cNvPr id="18" name="Image 6" descr="preencoded.png">
            <a:extLst>
              <a:ext uri="{FF2B5EF4-FFF2-40B4-BE49-F238E27FC236}">
                <a16:creationId xmlns:a16="http://schemas.microsoft.com/office/drawing/2014/main" id="{8502FA62-C794-9611-A85B-6BA2532DD2FC}"/>
              </a:ext>
            </a:extLst>
          </p:cNvPr>
          <p:cNvPicPr>
            <a:picLocks noChangeAspect="1"/>
          </p:cNvPicPr>
          <p:nvPr/>
        </p:nvPicPr>
        <p:blipFill>
          <a:blip r:embed="rId9"/>
          <a:stretch>
            <a:fillRect/>
          </a:stretch>
        </p:blipFill>
        <p:spPr>
          <a:xfrm>
            <a:off x="6462673" y="4542353"/>
            <a:ext cx="272653" cy="340757"/>
          </a:xfrm>
          <a:prstGeom prst="rect">
            <a:avLst/>
          </a:prstGeom>
        </p:spPr>
      </p:pic>
      <p:sp>
        <p:nvSpPr>
          <p:cNvPr id="19" name="Text 10">
            <a:extLst>
              <a:ext uri="{FF2B5EF4-FFF2-40B4-BE49-F238E27FC236}">
                <a16:creationId xmlns:a16="http://schemas.microsoft.com/office/drawing/2014/main" id="{5A606C67-79FD-245A-3084-3CD496EA6936}"/>
              </a:ext>
            </a:extLst>
          </p:cNvPr>
          <p:cNvSpPr/>
          <p:nvPr/>
        </p:nvSpPr>
        <p:spPr>
          <a:xfrm>
            <a:off x="1260118" y="6314123"/>
            <a:ext cx="13354764" cy="583168"/>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Applied research transforms theoretical knowledge into practical solutions for specific problems. Unlike basic research, it focuses on immediate utility and concrete outcomes that address industry, healthcare, social, or technological challenges.</a:t>
            </a:r>
            <a:endParaRPr lang="en-US" sz="1400" dirty="0">
              <a:latin typeface="Times New Roman" panose="02020603050405020304" pitchFamily="18" charset="0"/>
              <a:cs typeface="Times New Roman" panose="02020603050405020304" pitchFamily="18" charset="0"/>
            </a:endParaRPr>
          </a:p>
        </p:txBody>
      </p:sp>
      <p:sp>
        <p:nvSpPr>
          <p:cNvPr id="20" name="Text 11">
            <a:extLst>
              <a:ext uri="{FF2B5EF4-FFF2-40B4-BE49-F238E27FC236}">
                <a16:creationId xmlns:a16="http://schemas.microsoft.com/office/drawing/2014/main" id="{0DAE4983-809F-F28A-AADF-5C092AF59BD3}"/>
              </a:ext>
            </a:extLst>
          </p:cNvPr>
          <p:cNvSpPr/>
          <p:nvPr/>
        </p:nvSpPr>
        <p:spPr>
          <a:xfrm>
            <a:off x="1260118" y="7102197"/>
            <a:ext cx="13354764" cy="874752"/>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Times New Roman" panose="02020603050405020304" pitchFamily="18" charset="0"/>
                <a:ea typeface="Inter" pitchFamily="34" charset="-122"/>
                <a:cs typeface="Times New Roman" panose="02020603050405020304" pitchFamily="18" charset="0"/>
              </a:rPr>
              <a:t>This methodology is typically funded by organizations seeking solutions to particular issues, such as pharmaceutical companies developing medications or engineering firms creating more efficient manufacturing processes. The research design prioritizes practicality and real-world implementation over theoretical advancement, though both often progress together.</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3696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F58E855-559F-CB7B-07F0-A763E282158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5A5064F-88FD-C161-6CF3-D55994559C88}"/>
              </a:ext>
            </a:extLst>
          </p:cNvPr>
          <p:cNvSpPr/>
          <p:nvPr/>
        </p:nvSpPr>
        <p:spPr>
          <a:xfrm>
            <a:off x="1219835" y="909757"/>
            <a:ext cx="12695515" cy="658178"/>
          </a:xfrm>
          <a:prstGeom prst="rect">
            <a:avLst/>
          </a:prstGeom>
          <a:noFill/>
          <a:ln/>
        </p:spPr>
        <p:txBody>
          <a:bodyPr wrap="none" lIns="0" tIns="0" rIns="0" bIns="0" rtlCol="0" anchor="t"/>
          <a:lstStyle/>
          <a:p>
            <a:pPr marL="0" indent="0" algn="l">
              <a:lnSpc>
                <a:spcPts val="5150"/>
              </a:lnSpc>
              <a:buNone/>
            </a:pPr>
            <a:r>
              <a:rPr lang="en-US" sz="4100" b="1" dirty="0">
                <a:solidFill>
                  <a:srgbClr val="000000"/>
                </a:solidFill>
                <a:latin typeface="Times New Roman" panose="02020603050405020304" pitchFamily="18" charset="0"/>
                <a:ea typeface="Inter Bold" pitchFamily="34" charset="-122"/>
                <a:cs typeface="Times New Roman" panose="02020603050405020304" pitchFamily="18" charset="0"/>
              </a:rPr>
              <a:t>Exploratory Research: Investigating the Unknown</a:t>
            </a:r>
            <a:endParaRPr lang="en-US" sz="4100" dirty="0">
              <a:latin typeface="Times New Roman" panose="02020603050405020304" pitchFamily="18" charset="0"/>
              <a:cs typeface="Times New Roman" panose="02020603050405020304" pitchFamily="18" charset="0"/>
            </a:endParaRPr>
          </a:p>
        </p:txBody>
      </p:sp>
      <p:pic>
        <p:nvPicPr>
          <p:cNvPr id="3" name="Image 0" descr="preencoded.png">
            <a:extLst>
              <a:ext uri="{FF2B5EF4-FFF2-40B4-BE49-F238E27FC236}">
                <a16:creationId xmlns:a16="http://schemas.microsoft.com/office/drawing/2014/main" id="{54BE106B-C72E-1487-D6AA-3EE3F50E7FF4}"/>
              </a:ext>
            </a:extLst>
          </p:cNvPr>
          <p:cNvPicPr>
            <a:picLocks noChangeAspect="1"/>
          </p:cNvPicPr>
          <p:nvPr/>
        </p:nvPicPr>
        <p:blipFill>
          <a:blip r:embed="rId3"/>
          <a:stretch>
            <a:fillRect/>
          </a:stretch>
        </p:blipFill>
        <p:spPr>
          <a:xfrm>
            <a:off x="1219835" y="1989177"/>
            <a:ext cx="3288983" cy="842486"/>
          </a:xfrm>
          <a:prstGeom prst="rect">
            <a:avLst/>
          </a:prstGeom>
        </p:spPr>
      </p:pic>
      <p:sp>
        <p:nvSpPr>
          <p:cNvPr id="4" name="Text 1">
            <a:extLst>
              <a:ext uri="{FF2B5EF4-FFF2-40B4-BE49-F238E27FC236}">
                <a16:creationId xmlns:a16="http://schemas.microsoft.com/office/drawing/2014/main" id="{07FBB573-B404-555B-C30F-11CF48195FE6}"/>
              </a:ext>
            </a:extLst>
          </p:cNvPr>
          <p:cNvSpPr/>
          <p:nvPr/>
        </p:nvSpPr>
        <p:spPr>
          <a:xfrm>
            <a:off x="1430457" y="3147536"/>
            <a:ext cx="2632948" cy="328970"/>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Times New Roman" panose="02020603050405020304" pitchFamily="18" charset="0"/>
                <a:ea typeface="Inter Bold" pitchFamily="34" charset="-122"/>
                <a:cs typeface="Times New Roman" panose="02020603050405020304" pitchFamily="18" charset="0"/>
              </a:rPr>
              <a:t>Limited Knowledge</a:t>
            </a:r>
            <a:endParaRPr lang="en-US" sz="2050" dirty="0">
              <a:latin typeface="Times New Roman" panose="02020603050405020304" pitchFamily="18" charset="0"/>
              <a:cs typeface="Times New Roman" panose="02020603050405020304" pitchFamily="18" charset="0"/>
            </a:endParaRPr>
          </a:p>
        </p:txBody>
      </p:sp>
      <p:sp>
        <p:nvSpPr>
          <p:cNvPr id="5" name="Text 2">
            <a:extLst>
              <a:ext uri="{FF2B5EF4-FFF2-40B4-BE49-F238E27FC236}">
                <a16:creationId xmlns:a16="http://schemas.microsoft.com/office/drawing/2014/main" id="{CC706947-C8A3-8D3D-6104-ABA6ADC17707}"/>
              </a:ext>
            </a:extLst>
          </p:cNvPr>
          <p:cNvSpPr/>
          <p:nvPr/>
        </p:nvSpPr>
        <p:spPr>
          <a:xfrm>
            <a:off x="1430457" y="3602831"/>
            <a:ext cx="2867739" cy="1010841"/>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Starting with minimal information about the subject</a:t>
            </a:r>
            <a:endParaRPr lang="en-US" sz="1650" dirty="0">
              <a:latin typeface="Times New Roman" panose="02020603050405020304" pitchFamily="18" charset="0"/>
              <a:cs typeface="Times New Roman" panose="02020603050405020304" pitchFamily="18" charset="0"/>
            </a:endParaRPr>
          </a:p>
        </p:txBody>
      </p:sp>
      <p:pic>
        <p:nvPicPr>
          <p:cNvPr id="6" name="Image 1" descr="preencoded.png">
            <a:extLst>
              <a:ext uri="{FF2B5EF4-FFF2-40B4-BE49-F238E27FC236}">
                <a16:creationId xmlns:a16="http://schemas.microsoft.com/office/drawing/2014/main" id="{DE0DF1B1-4676-C867-5B54-3D8ECA8F5FD2}"/>
              </a:ext>
            </a:extLst>
          </p:cNvPr>
          <p:cNvPicPr>
            <a:picLocks noChangeAspect="1"/>
          </p:cNvPicPr>
          <p:nvPr/>
        </p:nvPicPr>
        <p:blipFill>
          <a:blip r:embed="rId4"/>
          <a:stretch>
            <a:fillRect/>
          </a:stretch>
        </p:blipFill>
        <p:spPr>
          <a:xfrm>
            <a:off x="4508818" y="1989177"/>
            <a:ext cx="3288983" cy="842486"/>
          </a:xfrm>
          <a:prstGeom prst="rect">
            <a:avLst/>
          </a:prstGeom>
        </p:spPr>
      </p:pic>
      <p:sp>
        <p:nvSpPr>
          <p:cNvPr id="7" name="Text 3">
            <a:extLst>
              <a:ext uri="{FF2B5EF4-FFF2-40B4-BE49-F238E27FC236}">
                <a16:creationId xmlns:a16="http://schemas.microsoft.com/office/drawing/2014/main" id="{EE1BC601-725E-28C7-342C-53F8F7EC9AAC}"/>
              </a:ext>
            </a:extLst>
          </p:cNvPr>
          <p:cNvSpPr/>
          <p:nvPr/>
        </p:nvSpPr>
        <p:spPr>
          <a:xfrm>
            <a:off x="4719439" y="3147536"/>
            <a:ext cx="2632948" cy="328970"/>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Times New Roman" panose="02020603050405020304" pitchFamily="18" charset="0"/>
                <a:ea typeface="Inter Bold" pitchFamily="34" charset="-122"/>
                <a:cs typeface="Times New Roman" panose="02020603050405020304" pitchFamily="18" charset="0"/>
              </a:rPr>
              <a:t>Initial Investigation</a:t>
            </a:r>
            <a:endParaRPr lang="en-US" sz="2050" dirty="0">
              <a:latin typeface="Times New Roman" panose="02020603050405020304" pitchFamily="18" charset="0"/>
              <a:cs typeface="Times New Roman" panose="02020603050405020304" pitchFamily="18" charset="0"/>
            </a:endParaRPr>
          </a:p>
        </p:txBody>
      </p:sp>
      <p:sp>
        <p:nvSpPr>
          <p:cNvPr id="8" name="Text 4">
            <a:extLst>
              <a:ext uri="{FF2B5EF4-FFF2-40B4-BE49-F238E27FC236}">
                <a16:creationId xmlns:a16="http://schemas.microsoft.com/office/drawing/2014/main" id="{1CB814A1-9EBE-24DE-ED3A-F5C75BEF3417}"/>
              </a:ext>
            </a:extLst>
          </p:cNvPr>
          <p:cNvSpPr/>
          <p:nvPr/>
        </p:nvSpPr>
        <p:spPr>
          <a:xfrm>
            <a:off x="4719439" y="3602831"/>
            <a:ext cx="2867739" cy="67389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Gathering preliminary insights and observations</a:t>
            </a:r>
            <a:endParaRPr lang="en-US" sz="1650" dirty="0">
              <a:latin typeface="Times New Roman" panose="02020603050405020304" pitchFamily="18" charset="0"/>
              <a:cs typeface="Times New Roman" panose="02020603050405020304" pitchFamily="18" charset="0"/>
            </a:endParaRPr>
          </a:p>
        </p:txBody>
      </p:sp>
      <p:pic>
        <p:nvPicPr>
          <p:cNvPr id="9" name="Image 2" descr="preencoded.png">
            <a:extLst>
              <a:ext uri="{FF2B5EF4-FFF2-40B4-BE49-F238E27FC236}">
                <a16:creationId xmlns:a16="http://schemas.microsoft.com/office/drawing/2014/main" id="{BA0408F6-EF5B-0A66-98CE-CD80ED184907}"/>
              </a:ext>
            </a:extLst>
          </p:cNvPr>
          <p:cNvPicPr>
            <a:picLocks noChangeAspect="1"/>
          </p:cNvPicPr>
          <p:nvPr/>
        </p:nvPicPr>
        <p:blipFill>
          <a:blip r:embed="rId5"/>
          <a:stretch>
            <a:fillRect/>
          </a:stretch>
        </p:blipFill>
        <p:spPr>
          <a:xfrm>
            <a:off x="7797800" y="1989177"/>
            <a:ext cx="3288983" cy="842486"/>
          </a:xfrm>
          <a:prstGeom prst="rect">
            <a:avLst/>
          </a:prstGeom>
        </p:spPr>
      </p:pic>
      <p:sp>
        <p:nvSpPr>
          <p:cNvPr id="10" name="Text 5">
            <a:extLst>
              <a:ext uri="{FF2B5EF4-FFF2-40B4-BE49-F238E27FC236}">
                <a16:creationId xmlns:a16="http://schemas.microsoft.com/office/drawing/2014/main" id="{E652FC72-A046-2B89-8959-E29080564D44}"/>
              </a:ext>
            </a:extLst>
          </p:cNvPr>
          <p:cNvSpPr/>
          <p:nvPr/>
        </p:nvSpPr>
        <p:spPr>
          <a:xfrm>
            <a:off x="8008422" y="3147536"/>
            <a:ext cx="2632948" cy="328970"/>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Times New Roman" panose="02020603050405020304" pitchFamily="18" charset="0"/>
                <a:ea typeface="Inter Bold" pitchFamily="34" charset="-122"/>
                <a:cs typeface="Times New Roman" panose="02020603050405020304" pitchFamily="18" charset="0"/>
              </a:rPr>
              <a:t>Pattern Recognition</a:t>
            </a:r>
            <a:endParaRPr lang="en-US" sz="2050" dirty="0">
              <a:latin typeface="Times New Roman" panose="02020603050405020304" pitchFamily="18" charset="0"/>
              <a:cs typeface="Times New Roman" panose="02020603050405020304" pitchFamily="18" charset="0"/>
            </a:endParaRPr>
          </a:p>
        </p:txBody>
      </p:sp>
      <p:sp>
        <p:nvSpPr>
          <p:cNvPr id="11" name="Text 6">
            <a:extLst>
              <a:ext uri="{FF2B5EF4-FFF2-40B4-BE49-F238E27FC236}">
                <a16:creationId xmlns:a16="http://schemas.microsoft.com/office/drawing/2014/main" id="{0062BF1D-5A14-6730-62D4-93A4D301EAB7}"/>
              </a:ext>
            </a:extLst>
          </p:cNvPr>
          <p:cNvSpPr/>
          <p:nvPr/>
        </p:nvSpPr>
        <p:spPr>
          <a:xfrm>
            <a:off x="8008422" y="3602831"/>
            <a:ext cx="2867739" cy="67389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Identifying potential variables and relationships</a:t>
            </a:r>
            <a:endParaRPr lang="en-US" sz="1650" dirty="0">
              <a:latin typeface="Times New Roman" panose="02020603050405020304" pitchFamily="18" charset="0"/>
              <a:cs typeface="Times New Roman" panose="02020603050405020304" pitchFamily="18" charset="0"/>
            </a:endParaRPr>
          </a:p>
        </p:txBody>
      </p:sp>
      <p:pic>
        <p:nvPicPr>
          <p:cNvPr id="12" name="Image 3" descr="preencoded.png">
            <a:extLst>
              <a:ext uri="{FF2B5EF4-FFF2-40B4-BE49-F238E27FC236}">
                <a16:creationId xmlns:a16="http://schemas.microsoft.com/office/drawing/2014/main" id="{3667B676-F6AF-06A7-7DB8-83BF36CC419B}"/>
              </a:ext>
            </a:extLst>
          </p:cNvPr>
          <p:cNvPicPr>
            <a:picLocks noChangeAspect="1"/>
          </p:cNvPicPr>
          <p:nvPr/>
        </p:nvPicPr>
        <p:blipFill>
          <a:blip r:embed="rId6"/>
          <a:stretch>
            <a:fillRect/>
          </a:stretch>
        </p:blipFill>
        <p:spPr>
          <a:xfrm>
            <a:off x="11086783" y="1989177"/>
            <a:ext cx="3288983" cy="842486"/>
          </a:xfrm>
          <a:prstGeom prst="rect">
            <a:avLst/>
          </a:prstGeom>
        </p:spPr>
      </p:pic>
      <p:sp>
        <p:nvSpPr>
          <p:cNvPr id="13" name="Text 7">
            <a:extLst>
              <a:ext uri="{FF2B5EF4-FFF2-40B4-BE49-F238E27FC236}">
                <a16:creationId xmlns:a16="http://schemas.microsoft.com/office/drawing/2014/main" id="{E169455B-CFF5-AEE6-DD09-13214117D14A}"/>
              </a:ext>
            </a:extLst>
          </p:cNvPr>
          <p:cNvSpPr/>
          <p:nvPr/>
        </p:nvSpPr>
        <p:spPr>
          <a:xfrm>
            <a:off x="11297404" y="3147536"/>
            <a:ext cx="2632948" cy="328970"/>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Times New Roman" panose="02020603050405020304" pitchFamily="18" charset="0"/>
                <a:ea typeface="Inter Bold" pitchFamily="34" charset="-122"/>
                <a:cs typeface="Times New Roman" panose="02020603050405020304" pitchFamily="18" charset="0"/>
              </a:rPr>
              <a:t>Direction Setting</a:t>
            </a:r>
            <a:endParaRPr lang="en-US" sz="2050" dirty="0">
              <a:latin typeface="Times New Roman" panose="02020603050405020304" pitchFamily="18" charset="0"/>
              <a:cs typeface="Times New Roman" panose="02020603050405020304" pitchFamily="18" charset="0"/>
            </a:endParaRPr>
          </a:p>
        </p:txBody>
      </p:sp>
      <p:sp>
        <p:nvSpPr>
          <p:cNvPr id="14" name="Text 8">
            <a:extLst>
              <a:ext uri="{FF2B5EF4-FFF2-40B4-BE49-F238E27FC236}">
                <a16:creationId xmlns:a16="http://schemas.microsoft.com/office/drawing/2014/main" id="{12A35272-A9F8-7940-F7AC-AC624B73F762}"/>
              </a:ext>
            </a:extLst>
          </p:cNvPr>
          <p:cNvSpPr/>
          <p:nvPr/>
        </p:nvSpPr>
        <p:spPr>
          <a:xfrm>
            <a:off x="11297404" y="3602831"/>
            <a:ext cx="2867739" cy="67389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Formulating hypotheses for further research</a:t>
            </a:r>
            <a:endParaRPr lang="en-US" sz="1650" dirty="0">
              <a:latin typeface="Times New Roman" panose="02020603050405020304" pitchFamily="18" charset="0"/>
              <a:cs typeface="Times New Roman" panose="02020603050405020304" pitchFamily="18" charset="0"/>
            </a:endParaRPr>
          </a:p>
        </p:txBody>
      </p:sp>
      <p:sp>
        <p:nvSpPr>
          <p:cNvPr id="15" name="Text 9">
            <a:extLst>
              <a:ext uri="{FF2B5EF4-FFF2-40B4-BE49-F238E27FC236}">
                <a16:creationId xmlns:a16="http://schemas.microsoft.com/office/drawing/2014/main" id="{4798089B-67D4-1C45-61C6-BCC57137C6D5}"/>
              </a:ext>
            </a:extLst>
          </p:cNvPr>
          <p:cNvSpPr/>
          <p:nvPr/>
        </p:nvSpPr>
        <p:spPr>
          <a:xfrm>
            <a:off x="1219835" y="5061228"/>
            <a:ext cx="13155930" cy="1010841"/>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Exploratory research ventures into uncharted territories of knowledge, investigating phenomena that are not well understood. This preliminary approach helps researchers clarify concepts, identify key variables, and generate hypotheses for more structured studies. It's particularly valuable when addressing novel problems or emerging fields.</a:t>
            </a:r>
            <a:endParaRPr lang="en-US" sz="1650" dirty="0">
              <a:latin typeface="Times New Roman" panose="02020603050405020304" pitchFamily="18" charset="0"/>
              <a:cs typeface="Times New Roman" panose="02020603050405020304" pitchFamily="18" charset="0"/>
            </a:endParaRPr>
          </a:p>
        </p:txBody>
      </p:sp>
      <p:sp>
        <p:nvSpPr>
          <p:cNvPr id="16" name="Text 10">
            <a:extLst>
              <a:ext uri="{FF2B5EF4-FFF2-40B4-BE49-F238E27FC236}">
                <a16:creationId xmlns:a16="http://schemas.microsoft.com/office/drawing/2014/main" id="{0823EDEF-DC01-C6B1-0746-6D5FEE66F9F8}"/>
              </a:ext>
            </a:extLst>
          </p:cNvPr>
          <p:cNvSpPr/>
          <p:nvPr/>
        </p:nvSpPr>
        <p:spPr>
          <a:xfrm>
            <a:off x="1219835" y="6309003"/>
            <a:ext cx="13155930" cy="1010841"/>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Times New Roman" panose="02020603050405020304" pitchFamily="18" charset="0"/>
                <a:ea typeface="Inter" pitchFamily="34" charset="-122"/>
                <a:cs typeface="Times New Roman" panose="02020603050405020304" pitchFamily="18" charset="0"/>
              </a:rPr>
              <a:t>Methods typically include interviews, focus groups, case studies, and literature reviews. The flexible design allows researchers to adapt their approach as new insights emerge. For example, market researchers might use exploratory methods to understand consumer reactions to an innovative product before designing quantitative studies.</a:t>
            </a:r>
            <a:endParaRPr lang="en-US" sz="16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414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59EDE67-C05C-6542-C09D-54E300BD05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A56834-CAF3-6F4D-A46B-BC0C7EF5F587}"/>
              </a:ext>
            </a:extLst>
          </p:cNvPr>
          <p:cNvSpPr/>
          <p:nvPr/>
        </p:nvSpPr>
        <p:spPr>
          <a:xfrm>
            <a:off x="1188085" y="655677"/>
            <a:ext cx="12970073" cy="641271"/>
          </a:xfrm>
          <a:prstGeom prst="rect">
            <a:avLst/>
          </a:prstGeom>
          <a:noFill/>
          <a:ln/>
        </p:spPr>
        <p:txBody>
          <a:bodyPr wrap="none" lIns="0" tIns="0" rIns="0" bIns="0" rtlCol="0" anchor="t"/>
          <a:lstStyle/>
          <a:p>
            <a:pPr marL="0" indent="0" algn="l">
              <a:lnSpc>
                <a:spcPts val="5000"/>
              </a:lnSpc>
              <a:buNone/>
            </a:pPr>
            <a:r>
              <a:rPr lang="en-US" sz="4000" b="1" dirty="0">
                <a:solidFill>
                  <a:srgbClr val="000000"/>
                </a:solidFill>
                <a:latin typeface="Times New Roman" panose="02020603050405020304" pitchFamily="18" charset="0"/>
                <a:ea typeface="Inter Bold" pitchFamily="34" charset="-122"/>
                <a:cs typeface="Times New Roman" panose="02020603050405020304" pitchFamily="18" charset="0"/>
              </a:rPr>
              <a:t>Descriptive Research: Portraying Reality Accurately</a:t>
            </a:r>
            <a:endParaRPr lang="en-US" sz="4000" dirty="0">
              <a:latin typeface="Times New Roman" panose="02020603050405020304" pitchFamily="18" charset="0"/>
              <a:cs typeface="Times New Roman" panose="02020603050405020304" pitchFamily="18" charset="0"/>
            </a:endParaRPr>
          </a:p>
        </p:txBody>
      </p:sp>
      <p:sp>
        <p:nvSpPr>
          <p:cNvPr id="3" name="Shape 1">
            <a:extLst>
              <a:ext uri="{FF2B5EF4-FFF2-40B4-BE49-F238E27FC236}">
                <a16:creationId xmlns:a16="http://schemas.microsoft.com/office/drawing/2014/main" id="{55F364BF-ED52-B32A-E2CD-B189438FFFFC}"/>
              </a:ext>
            </a:extLst>
          </p:cNvPr>
          <p:cNvSpPr/>
          <p:nvPr/>
        </p:nvSpPr>
        <p:spPr>
          <a:xfrm>
            <a:off x="1188085" y="1707356"/>
            <a:ext cx="4261247" cy="3434596"/>
          </a:xfrm>
          <a:prstGeom prst="roundRect">
            <a:avLst>
              <a:gd name="adj" fmla="val 2510"/>
            </a:avLst>
          </a:prstGeom>
          <a:solidFill>
            <a:srgbClr val="DADBF1"/>
          </a:solidFill>
          <a:ln w="7620">
            <a:solidFill>
              <a:srgbClr val="C0C1D7"/>
            </a:solidFill>
            <a:prstDash val="solid"/>
          </a:ln>
        </p:spPr>
      </p:sp>
      <p:sp>
        <p:nvSpPr>
          <p:cNvPr id="4" name="Text 2">
            <a:extLst>
              <a:ext uri="{FF2B5EF4-FFF2-40B4-BE49-F238E27FC236}">
                <a16:creationId xmlns:a16="http://schemas.microsoft.com/office/drawing/2014/main" id="{BC4728DE-94BA-FD8E-89FA-B5F5D65335BB}"/>
              </a:ext>
            </a:extLst>
          </p:cNvPr>
          <p:cNvSpPr/>
          <p:nvPr/>
        </p:nvSpPr>
        <p:spPr>
          <a:xfrm>
            <a:off x="1400850" y="1920121"/>
            <a:ext cx="3012877" cy="320635"/>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Times New Roman" panose="02020603050405020304" pitchFamily="18" charset="0"/>
                <a:ea typeface="Inter Bold" pitchFamily="34" charset="-122"/>
                <a:cs typeface="Times New Roman" panose="02020603050405020304" pitchFamily="18" charset="0"/>
              </a:rPr>
              <a:t>Systematic Observation</a:t>
            </a:r>
            <a:endParaRPr lang="en-US" sz="20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C706AEA3-5CE1-D6E0-4D8C-FA8949933070}"/>
              </a:ext>
            </a:extLst>
          </p:cNvPr>
          <p:cNvSpPr/>
          <p:nvPr/>
        </p:nvSpPr>
        <p:spPr>
          <a:xfrm>
            <a:off x="1400850" y="2363867"/>
            <a:ext cx="3835718" cy="1313498"/>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Carefully structured watching and recording of phenomena as they naturally occur, without intervention or manipulation.</a:t>
            </a:r>
            <a:endParaRPr lang="en-US" sz="1600"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0800E3A6-C02B-8A90-741E-7FB06D0AA66B}"/>
              </a:ext>
            </a:extLst>
          </p:cNvPr>
          <p:cNvSpPr/>
          <p:nvPr/>
        </p:nvSpPr>
        <p:spPr>
          <a:xfrm>
            <a:off x="1400850" y="3800475"/>
            <a:ext cx="3835718" cy="328374"/>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Field observations</a:t>
            </a:r>
            <a:endParaRPr lang="en-US" sz="1600"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92CF0B8E-1C5F-F34C-89D0-D240F90EE919}"/>
              </a:ext>
            </a:extLst>
          </p:cNvPr>
          <p:cNvSpPr/>
          <p:nvPr/>
        </p:nvSpPr>
        <p:spPr>
          <a:xfrm>
            <a:off x="1400850" y="4200644"/>
            <a:ext cx="3835718" cy="328374"/>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Naturalistic studies</a:t>
            </a:r>
            <a:endParaRPr lang="en-US" sz="1600" dirty="0">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1F9B86B8-8733-E76B-22A4-93C347DBEAA3}"/>
              </a:ext>
            </a:extLst>
          </p:cNvPr>
          <p:cNvSpPr/>
          <p:nvPr/>
        </p:nvSpPr>
        <p:spPr>
          <a:xfrm>
            <a:off x="1400850" y="4600813"/>
            <a:ext cx="3835718" cy="328374"/>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Behavioral mapping</a:t>
            </a:r>
            <a:endParaRPr lang="en-US" sz="1600" dirty="0">
              <a:latin typeface="Times New Roman" panose="02020603050405020304" pitchFamily="18" charset="0"/>
              <a:cs typeface="Times New Roman" panose="02020603050405020304" pitchFamily="18" charset="0"/>
            </a:endParaRPr>
          </a:p>
        </p:txBody>
      </p:sp>
      <p:sp>
        <p:nvSpPr>
          <p:cNvPr id="9" name="Shape 7">
            <a:extLst>
              <a:ext uri="{FF2B5EF4-FFF2-40B4-BE49-F238E27FC236}">
                <a16:creationId xmlns:a16="http://schemas.microsoft.com/office/drawing/2014/main" id="{E5DB5005-C89C-C4A0-DA84-DD115BBDE3DB}"/>
              </a:ext>
            </a:extLst>
          </p:cNvPr>
          <p:cNvSpPr/>
          <p:nvPr/>
        </p:nvSpPr>
        <p:spPr>
          <a:xfrm>
            <a:off x="5654477" y="1707356"/>
            <a:ext cx="4261247" cy="3434596"/>
          </a:xfrm>
          <a:prstGeom prst="roundRect">
            <a:avLst>
              <a:gd name="adj" fmla="val 2510"/>
            </a:avLst>
          </a:prstGeom>
          <a:solidFill>
            <a:srgbClr val="DADBF1"/>
          </a:solidFill>
          <a:ln w="7620">
            <a:solidFill>
              <a:srgbClr val="C0C1D7"/>
            </a:solidFill>
            <a:prstDash val="solid"/>
          </a:ln>
        </p:spPr>
      </p:sp>
      <p:sp>
        <p:nvSpPr>
          <p:cNvPr id="10" name="Text 8">
            <a:extLst>
              <a:ext uri="{FF2B5EF4-FFF2-40B4-BE49-F238E27FC236}">
                <a16:creationId xmlns:a16="http://schemas.microsoft.com/office/drawing/2014/main" id="{DEB1E92A-94CA-7BFF-CAC3-FFA130901B6C}"/>
              </a:ext>
            </a:extLst>
          </p:cNvPr>
          <p:cNvSpPr/>
          <p:nvPr/>
        </p:nvSpPr>
        <p:spPr>
          <a:xfrm>
            <a:off x="5867241" y="1920121"/>
            <a:ext cx="2565202" cy="320635"/>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Times New Roman" panose="02020603050405020304" pitchFamily="18" charset="0"/>
                <a:ea typeface="Inter Bold" pitchFamily="34" charset="-122"/>
                <a:cs typeface="Times New Roman" panose="02020603050405020304" pitchFamily="18" charset="0"/>
              </a:rPr>
              <a:t>Survey Research</a:t>
            </a:r>
            <a:endParaRPr lang="en-US" sz="2000" dirty="0">
              <a:latin typeface="Times New Roman" panose="02020603050405020304" pitchFamily="18" charset="0"/>
              <a:cs typeface="Times New Roman" panose="02020603050405020304" pitchFamily="18" charset="0"/>
            </a:endParaRPr>
          </a:p>
        </p:txBody>
      </p:sp>
      <p:sp>
        <p:nvSpPr>
          <p:cNvPr id="11" name="Text 9">
            <a:extLst>
              <a:ext uri="{FF2B5EF4-FFF2-40B4-BE49-F238E27FC236}">
                <a16:creationId xmlns:a16="http://schemas.microsoft.com/office/drawing/2014/main" id="{F1A203DC-CD4A-ECFC-C88A-B96D5FB9E999}"/>
              </a:ext>
            </a:extLst>
          </p:cNvPr>
          <p:cNvSpPr/>
          <p:nvPr/>
        </p:nvSpPr>
        <p:spPr>
          <a:xfrm>
            <a:off x="5867241" y="2363867"/>
            <a:ext cx="3835718" cy="985123"/>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Collection of standardized information from a specific population through questionnaires or interviews.</a:t>
            </a:r>
            <a:endParaRPr lang="en-US" sz="1600" dirty="0">
              <a:latin typeface="Times New Roman" panose="02020603050405020304" pitchFamily="18" charset="0"/>
              <a:cs typeface="Times New Roman" panose="02020603050405020304" pitchFamily="18" charset="0"/>
            </a:endParaRPr>
          </a:p>
        </p:txBody>
      </p:sp>
      <p:sp>
        <p:nvSpPr>
          <p:cNvPr id="12" name="Text 10">
            <a:extLst>
              <a:ext uri="{FF2B5EF4-FFF2-40B4-BE49-F238E27FC236}">
                <a16:creationId xmlns:a16="http://schemas.microsoft.com/office/drawing/2014/main" id="{6353E766-30C1-A46D-F8A9-2B376F0CFAF5}"/>
              </a:ext>
            </a:extLst>
          </p:cNvPr>
          <p:cNvSpPr/>
          <p:nvPr/>
        </p:nvSpPr>
        <p:spPr>
          <a:xfrm>
            <a:off x="5867241" y="3472101"/>
            <a:ext cx="3835718" cy="328374"/>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Demographic studies</a:t>
            </a:r>
            <a:endParaRPr lang="en-US" sz="160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7C19B25B-6DA4-79D4-9326-7A78C59CE22C}"/>
              </a:ext>
            </a:extLst>
          </p:cNvPr>
          <p:cNvSpPr/>
          <p:nvPr/>
        </p:nvSpPr>
        <p:spPr>
          <a:xfrm>
            <a:off x="5867241" y="3872270"/>
            <a:ext cx="3835718" cy="328374"/>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Opinion polls</a:t>
            </a:r>
            <a:endParaRPr lang="en-US" sz="1600" dirty="0">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943949F4-D9B6-0280-47DE-1B90F70218BE}"/>
              </a:ext>
            </a:extLst>
          </p:cNvPr>
          <p:cNvSpPr/>
          <p:nvPr/>
        </p:nvSpPr>
        <p:spPr>
          <a:xfrm>
            <a:off x="5867241" y="4272439"/>
            <a:ext cx="3835718" cy="328374"/>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Needs assessments</a:t>
            </a:r>
            <a:endParaRPr lang="en-US" sz="1600" dirty="0">
              <a:latin typeface="Times New Roman" panose="02020603050405020304" pitchFamily="18" charset="0"/>
              <a:cs typeface="Times New Roman" panose="02020603050405020304" pitchFamily="18" charset="0"/>
            </a:endParaRPr>
          </a:p>
        </p:txBody>
      </p:sp>
      <p:sp>
        <p:nvSpPr>
          <p:cNvPr id="15" name="Shape 13">
            <a:extLst>
              <a:ext uri="{FF2B5EF4-FFF2-40B4-BE49-F238E27FC236}">
                <a16:creationId xmlns:a16="http://schemas.microsoft.com/office/drawing/2014/main" id="{34F61452-0872-AC54-3682-B834289BEDEA}"/>
              </a:ext>
            </a:extLst>
          </p:cNvPr>
          <p:cNvSpPr/>
          <p:nvPr/>
        </p:nvSpPr>
        <p:spPr>
          <a:xfrm>
            <a:off x="10120868" y="1707356"/>
            <a:ext cx="4261247" cy="3434596"/>
          </a:xfrm>
          <a:prstGeom prst="roundRect">
            <a:avLst>
              <a:gd name="adj" fmla="val 2510"/>
            </a:avLst>
          </a:prstGeom>
          <a:solidFill>
            <a:srgbClr val="DADBF1"/>
          </a:solidFill>
          <a:ln w="7620">
            <a:solidFill>
              <a:srgbClr val="C0C1D7"/>
            </a:solidFill>
            <a:prstDash val="solid"/>
          </a:ln>
        </p:spPr>
      </p:sp>
      <p:sp>
        <p:nvSpPr>
          <p:cNvPr id="16" name="Text 14">
            <a:extLst>
              <a:ext uri="{FF2B5EF4-FFF2-40B4-BE49-F238E27FC236}">
                <a16:creationId xmlns:a16="http://schemas.microsoft.com/office/drawing/2014/main" id="{DE3295FB-6E67-55F8-36FC-3730A3E1A2E1}"/>
              </a:ext>
            </a:extLst>
          </p:cNvPr>
          <p:cNvSpPr/>
          <p:nvPr/>
        </p:nvSpPr>
        <p:spPr>
          <a:xfrm>
            <a:off x="10333633" y="1920121"/>
            <a:ext cx="2565202" cy="320635"/>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Times New Roman" panose="02020603050405020304" pitchFamily="18" charset="0"/>
                <a:ea typeface="Inter Bold" pitchFamily="34" charset="-122"/>
                <a:cs typeface="Times New Roman" panose="02020603050405020304" pitchFamily="18" charset="0"/>
              </a:rPr>
              <a:t>Case Studies</a:t>
            </a:r>
            <a:endParaRPr lang="en-US" sz="2000" dirty="0">
              <a:latin typeface="Times New Roman" panose="02020603050405020304" pitchFamily="18" charset="0"/>
              <a:cs typeface="Times New Roman" panose="02020603050405020304" pitchFamily="18" charset="0"/>
            </a:endParaRPr>
          </a:p>
        </p:txBody>
      </p:sp>
      <p:sp>
        <p:nvSpPr>
          <p:cNvPr id="17" name="Text 15">
            <a:extLst>
              <a:ext uri="{FF2B5EF4-FFF2-40B4-BE49-F238E27FC236}">
                <a16:creationId xmlns:a16="http://schemas.microsoft.com/office/drawing/2014/main" id="{7B9EF57B-1DCF-7D7F-69E4-B7C3D61AF40D}"/>
              </a:ext>
            </a:extLst>
          </p:cNvPr>
          <p:cNvSpPr/>
          <p:nvPr/>
        </p:nvSpPr>
        <p:spPr>
          <a:xfrm>
            <a:off x="10333633" y="2363867"/>
            <a:ext cx="3835718" cy="1313498"/>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In-depth examination of individuals, groups, or events to document complex phenomena in their natural context.</a:t>
            </a:r>
            <a:endParaRPr lang="en-US" sz="1600" dirty="0">
              <a:latin typeface="Times New Roman" panose="02020603050405020304" pitchFamily="18" charset="0"/>
              <a:cs typeface="Times New Roman" panose="02020603050405020304" pitchFamily="18" charset="0"/>
            </a:endParaRPr>
          </a:p>
        </p:txBody>
      </p:sp>
      <p:sp>
        <p:nvSpPr>
          <p:cNvPr id="18" name="Text 16">
            <a:extLst>
              <a:ext uri="{FF2B5EF4-FFF2-40B4-BE49-F238E27FC236}">
                <a16:creationId xmlns:a16="http://schemas.microsoft.com/office/drawing/2014/main" id="{F6451FC0-109D-0983-F511-8496707B1D61}"/>
              </a:ext>
            </a:extLst>
          </p:cNvPr>
          <p:cNvSpPr/>
          <p:nvPr/>
        </p:nvSpPr>
        <p:spPr>
          <a:xfrm>
            <a:off x="10333633" y="3800475"/>
            <a:ext cx="3835718" cy="328374"/>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Clinical cases</a:t>
            </a:r>
            <a:endParaRPr lang="en-US" sz="1600" dirty="0">
              <a:latin typeface="Times New Roman" panose="02020603050405020304" pitchFamily="18" charset="0"/>
              <a:cs typeface="Times New Roman" panose="02020603050405020304" pitchFamily="18" charset="0"/>
            </a:endParaRPr>
          </a:p>
        </p:txBody>
      </p:sp>
      <p:sp>
        <p:nvSpPr>
          <p:cNvPr id="19" name="Text 17">
            <a:extLst>
              <a:ext uri="{FF2B5EF4-FFF2-40B4-BE49-F238E27FC236}">
                <a16:creationId xmlns:a16="http://schemas.microsoft.com/office/drawing/2014/main" id="{F071403F-A0D5-E835-AEDC-0E5926B5F97D}"/>
              </a:ext>
            </a:extLst>
          </p:cNvPr>
          <p:cNvSpPr/>
          <p:nvPr/>
        </p:nvSpPr>
        <p:spPr>
          <a:xfrm>
            <a:off x="10333633" y="4200644"/>
            <a:ext cx="3835718" cy="328374"/>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Organizational analyses</a:t>
            </a:r>
            <a:endParaRPr lang="en-US" sz="1600" dirty="0">
              <a:latin typeface="Times New Roman" panose="02020603050405020304" pitchFamily="18" charset="0"/>
              <a:cs typeface="Times New Roman" panose="02020603050405020304" pitchFamily="18" charset="0"/>
            </a:endParaRPr>
          </a:p>
        </p:txBody>
      </p:sp>
      <p:sp>
        <p:nvSpPr>
          <p:cNvPr id="20" name="Text 18">
            <a:extLst>
              <a:ext uri="{FF2B5EF4-FFF2-40B4-BE49-F238E27FC236}">
                <a16:creationId xmlns:a16="http://schemas.microsoft.com/office/drawing/2014/main" id="{01B467EE-08AE-CBE4-4F8C-C9BF6F72BBDB}"/>
              </a:ext>
            </a:extLst>
          </p:cNvPr>
          <p:cNvSpPr/>
          <p:nvPr/>
        </p:nvSpPr>
        <p:spPr>
          <a:xfrm>
            <a:off x="10333633" y="4600813"/>
            <a:ext cx="3835718" cy="328374"/>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Historical accounts</a:t>
            </a:r>
            <a:endParaRPr lang="en-US" sz="1600" dirty="0">
              <a:latin typeface="Times New Roman" panose="02020603050405020304" pitchFamily="18" charset="0"/>
              <a:cs typeface="Times New Roman" panose="02020603050405020304" pitchFamily="18" charset="0"/>
            </a:endParaRPr>
          </a:p>
        </p:txBody>
      </p:sp>
      <p:sp>
        <p:nvSpPr>
          <p:cNvPr id="21" name="Text 19">
            <a:extLst>
              <a:ext uri="{FF2B5EF4-FFF2-40B4-BE49-F238E27FC236}">
                <a16:creationId xmlns:a16="http://schemas.microsoft.com/office/drawing/2014/main" id="{CAB8A3A2-6CF0-5597-B4D4-465670C58944}"/>
              </a:ext>
            </a:extLst>
          </p:cNvPr>
          <p:cNvSpPr/>
          <p:nvPr/>
        </p:nvSpPr>
        <p:spPr>
          <a:xfrm>
            <a:off x="1188085" y="5372814"/>
            <a:ext cx="13194030" cy="985123"/>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Descriptive research aims to accurately portray characteristics, behaviors, or conditions without manipulating variables. It answers "what is" rather than "why" or "how" questions, providing detailed accounts of phenomena as they naturally occur. This approach establishes baseline knowledge essential for more analytical studies.</a:t>
            </a:r>
            <a:endParaRPr lang="en-US" sz="1600" dirty="0">
              <a:latin typeface="Times New Roman" panose="02020603050405020304" pitchFamily="18" charset="0"/>
              <a:cs typeface="Times New Roman" panose="02020603050405020304" pitchFamily="18" charset="0"/>
            </a:endParaRPr>
          </a:p>
        </p:txBody>
      </p:sp>
      <p:sp>
        <p:nvSpPr>
          <p:cNvPr id="22" name="Text 20">
            <a:extLst>
              <a:ext uri="{FF2B5EF4-FFF2-40B4-BE49-F238E27FC236}">
                <a16:creationId xmlns:a16="http://schemas.microsoft.com/office/drawing/2014/main" id="{FF731DE3-34DD-A61F-6DD4-0D55AD06263C}"/>
              </a:ext>
            </a:extLst>
          </p:cNvPr>
          <p:cNvSpPr/>
          <p:nvPr/>
        </p:nvSpPr>
        <p:spPr>
          <a:xfrm>
            <a:off x="1188085" y="6588800"/>
            <a:ext cx="13194030" cy="985123"/>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Researchers often employ quantitative methods like surveys alongside qualitative techniques such as structured observations. The resulting data helps establish norms, identify patterns, and document prevalence, as seen in census studies, epidemiological research, and market segmentation analyses.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222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B122920-4AE2-6CBA-7F99-8B65F02118B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98CD25-DCA2-DFC3-EAA1-171B7D6E041C}"/>
              </a:ext>
            </a:extLst>
          </p:cNvPr>
          <p:cNvSpPr/>
          <p:nvPr/>
        </p:nvSpPr>
        <p:spPr>
          <a:xfrm>
            <a:off x="1209238" y="482203"/>
            <a:ext cx="9922550" cy="546735"/>
          </a:xfrm>
          <a:prstGeom prst="rect">
            <a:avLst/>
          </a:prstGeom>
          <a:noFill/>
          <a:ln/>
        </p:spPr>
        <p:txBody>
          <a:bodyPr wrap="none" lIns="0" tIns="0" rIns="0" bIns="0" rtlCol="0" anchor="t"/>
          <a:lstStyle/>
          <a:p>
            <a:pPr marL="0" indent="0" algn="l">
              <a:lnSpc>
                <a:spcPts val="4300"/>
              </a:lnSpc>
              <a:buNone/>
            </a:pPr>
            <a:r>
              <a:rPr lang="en-US" sz="3400" b="1" dirty="0">
                <a:solidFill>
                  <a:srgbClr val="000000"/>
                </a:solidFill>
                <a:latin typeface="Times New Roman" panose="02020603050405020304" pitchFamily="18" charset="0"/>
                <a:ea typeface="Inter Bold" pitchFamily="34" charset="-122"/>
                <a:cs typeface="Times New Roman" panose="02020603050405020304" pitchFamily="18" charset="0"/>
              </a:rPr>
              <a:t>Experimental Research: Establishing Causality</a:t>
            </a:r>
            <a:endParaRPr lang="en-US" sz="3400" dirty="0">
              <a:latin typeface="Times New Roman" panose="02020603050405020304" pitchFamily="18" charset="0"/>
              <a:cs typeface="Times New Roman" panose="02020603050405020304" pitchFamily="18" charset="0"/>
            </a:endParaRPr>
          </a:p>
        </p:txBody>
      </p:sp>
      <p:sp>
        <p:nvSpPr>
          <p:cNvPr id="3" name="Shape 1">
            <a:extLst>
              <a:ext uri="{FF2B5EF4-FFF2-40B4-BE49-F238E27FC236}">
                <a16:creationId xmlns:a16="http://schemas.microsoft.com/office/drawing/2014/main" id="{42465A44-514A-25D8-A3CE-E2F30DE9105D}"/>
              </a:ext>
            </a:extLst>
          </p:cNvPr>
          <p:cNvSpPr/>
          <p:nvPr/>
        </p:nvSpPr>
        <p:spPr>
          <a:xfrm>
            <a:off x="1209238" y="1378863"/>
            <a:ext cx="1675686" cy="1008102"/>
          </a:xfrm>
          <a:prstGeom prst="roundRect">
            <a:avLst>
              <a:gd name="adj" fmla="val 7290"/>
            </a:avLst>
          </a:prstGeom>
          <a:solidFill>
            <a:srgbClr val="DADBF1"/>
          </a:solidFill>
          <a:ln w="7620">
            <a:solidFill>
              <a:srgbClr val="C0C1D7"/>
            </a:solidFill>
            <a:prstDash val="solid"/>
          </a:ln>
        </p:spPr>
      </p:sp>
      <p:pic>
        <p:nvPicPr>
          <p:cNvPr id="4" name="Image 0" descr="preencoded.png">
            <a:extLst>
              <a:ext uri="{FF2B5EF4-FFF2-40B4-BE49-F238E27FC236}">
                <a16:creationId xmlns:a16="http://schemas.microsoft.com/office/drawing/2014/main" id="{D030FA72-903B-B380-FBC2-CCA3CDF0911E}"/>
              </a:ext>
            </a:extLst>
          </p:cNvPr>
          <p:cNvPicPr>
            <a:picLocks noChangeAspect="1"/>
          </p:cNvPicPr>
          <p:nvPr/>
        </p:nvPicPr>
        <p:blipFill>
          <a:blip r:embed="rId3"/>
          <a:stretch>
            <a:fillRect/>
          </a:stretch>
        </p:blipFill>
        <p:spPr>
          <a:xfrm>
            <a:off x="1924090" y="1729145"/>
            <a:ext cx="245983" cy="307538"/>
          </a:xfrm>
          <a:prstGeom prst="rect">
            <a:avLst/>
          </a:prstGeom>
        </p:spPr>
      </p:pic>
      <p:sp>
        <p:nvSpPr>
          <p:cNvPr id="5" name="Text 2">
            <a:extLst>
              <a:ext uri="{FF2B5EF4-FFF2-40B4-BE49-F238E27FC236}">
                <a16:creationId xmlns:a16="http://schemas.microsoft.com/office/drawing/2014/main" id="{3EB8A56E-F578-99C6-E9B6-75777ED7EA6B}"/>
              </a:ext>
            </a:extLst>
          </p:cNvPr>
          <p:cNvSpPr/>
          <p:nvPr/>
        </p:nvSpPr>
        <p:spPr>
          <a:xfrm>
            <a:off x="3059827" y="1553766"/>
            <a:ext cx="2549723" cy="2733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Times New Roman" panose="02020603050405020304" pitchFamily="18" charset="0"/>
                <a:ea typeface="Inter Bold" pitchFamily="34" charset="-122"/>
                <a:cs typeface="Times New Roman" panose="02020603050405020304" pitchFamily="18" charset="0"/>
              </a:rPr>
              <a:t>Hypothesis Formulation</a:t>
            </a:r>
            <a:endParaRPr lang="en-US" sz="1700" dirty="0">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14302754-64E9-9C4E-D2E5-29F97A5295CD}"/>
              </a:ext>
            </a:extLst>
          </p:cNvPr>
          <p:cNvSpPr/>
          <p:nvPr/>
        </p:nvSpPr>
        <p:spPr>
          <a:xfrm>
            <a:off x="3059827" y="1932027"/>
            <a:ext cx="4004905" cy="280035"/>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Times New Roman" panose="02020603050405020304" pitchFamily="18" charset="0"/>
                <a:ea typeface="Inter" pitchFamily="34" charset="-122"/>
                <a:cs typeface="Times New Roman" panose="02020603050405020304" pitchFamily="18" charset="0"/>
              </a:rPr>
              <a:t>Developing testable predictions based on theory</a:t>
            </a:r>
            <a:endParaRPr lang="en-US" sz="1350" dirty="0">
              <a:latin typeface="Times New Roman" panose="02020603050405020304" pitchFamily="18" charset="0"/>
              <a:cs typeface="Times New Roman" panose="02020603050405020304" pitchFamily="18" charset="0"/>
            </a:endParaRPr>
          </a:p>
        </p:txBody>
      </p:sp>
      <p:sp>
        <p:nvSpPr>
          <p:cNvPr id="7" name="Shape 4">
            <a:extLst>
              <a:ext uri="{FF2B5EF4-FFF2-40B4-BE49-F238E27FC236}">
                <a16:creationId xmlns:a16="http://schemas.microsoft.com/office/drawing/2014/main" id="{3EBB65F9-81D7-8355-E2A7-2A049ECF2763}"/>
              </a:ext>
            </a:extLst>
          </p:cNvPr>
          <p:cNvSpPr/>
          <p:nvPr/>
        </p:nvSpPr>
        <p:spPr>
          <a:xfrm>
            <a:off x="2972316" y="2377440"/>
            <a:ext cx="11555254" cy="11430"/>
          </a:xfrm>
          <a:prstGeom prst="roundRect">
            <a:avLst>
              <a:gd name="adj" fmla="val 642928"/>
            </a:avLst>
          </a:prstGeom>
          <a:solidFill>
            <a:srgbClr val="C0C1D7"/>
          </a:solidFill>
          <a:ln/>
        </p:spPr>
      </p:sp>
      <p:sp>
        <p:nvSpPr>
          <p:cNvPr id="8" name="Shape 5">
            <a:extLst>
              <a:ext uri="{FF2B5EF4-FFF2-40B4-BE49-F238E27FC236}">
                <a16:creationId xmlns:a16="http://schemas.microsoft.com/office/drawing/2014/main" id="{59B12D9C-8A2E-7CD1-F3C7-33BB113B13A7}"/>
              </a:ext>
            </a:extLst>
          </p:cNvPr>
          <p:cNvSpPr/>
          <p:nvPr/>
        </p:nvSpPr>
        <p:spPr>
          <a:xfrm>
            <a:off x="1209238" y="2474357"/>
            <a:ext cx="3351371" cy="1008102"/>
          </a:xfrm>
          <a:prstGeom prst="roundRect">
            <a:avLst>
              <a:gd name="adj" fmla="val 7290"/>
            </a:avLst>
          </a:prstGeom>
          <a:solidFill>
            <a:srgbClr val="DADBF1"/>
          </a:solidFill>
          <a:ln w="7620">
            <a:solidFill>
              <a:srgbClr val="C0C1D7"/>
            </a:solidFill>
            <a:prstDash val="solid"/>
          </a:ln>
        </p:spPr>
      </p:sp>
      <p:pic>
        <p:nvPicPr>
          <p:cNvPr id="9" name="Image 1" descr="preencoded.png">
            <a:extLst>
              <a:ext uri="{FF2B5EF4-FFF2-40B4-BE49-F238E27FC236}">
                <a16:creationId xmlns:a16="http://schemas.microsoft.com/office/drawing/2014/main" id="{B57BC1DC-83E2-1580-F4C8-837B207B526B}"/>
              </a:ext>
            </a:extLst>
          </p:cNvPr>
          <p:cNvPicPr>
            <a:picLocks noChangeAspect="1"/>
          </p:cNvPicPr>
          <p:nvPr/>
        </p:nvPicPr>
        <p:blipFill>
          <a:blip r:embed="rId4"/>
          <a:stretch>
            <a:fillRect/>
          </a:stretch>
        </p:blipFill>
        <p:spPr>
          <a:xfrm>
            <a:off x="2761933" y="2824639"/>
            <a:ext cx="245983" cy="307538"/>
          </a:xfrm>
          <a:prstGeom prst="rect">
            <a:avLst/>
          </a:prstGeom>
        </p:spPr>
      </p:pic>
      <p:sp>
        <p:nvSpPr>
          <p:cNvPr id="10" name="Text 6">
            <a:extLst>
              <a:ext uri="{FF2B5EF4-FFF2-40B4-BE49-F238E27FC236}">
                <a16:creationId xmlns:a16="http://schemas.microsoft.com/office/drawing/2014/main" id="{D4FB32EE-4C95-94DC-D9AA-76C2D7A0347D}"/>
              </a:ext>
            </a:extLst>
          </p:cNvPr>
          <p:cNvSpPr/>
          <p:nvPr/>
        </p:nvSpPr>
        <p:spPr>
          <a:xfrm>
            <a:off x="4735513" y="2649260"/>
            <a:ext cx="2213610" cy="2733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Times New Roman" panose="02020603050405020304" pitchFamily="18" charset="0"/>
                <a:ea typeface="Inter Bold" pitchFamily="34" charset="-122"/>
                <a:cs typeface="Times New Roman" panose="02020603050405020304" pitchFamily="18" charset="0"/>
              </a:rPr>
              <a:t>Random Assignment</a:t>
            </a:r>
            <a:endParaRPr lang="en-US" sz="1700" dirty="0">
              <a:latin typeface="Times New Roman" panose="02020603050405020304" pitchFamily="18" charset="0"/>
              <a:cs typeface="Times New Roman" panose="02020603050405020304" pitchFamily="18" charset="0"/>
            </a:endParaRPr>
          </a:p>
        </p:txBody>
      </p:sp>
      <p:sp>
        <p:nvSpPr>
          <p:cNvPr id="11" name="Text 7">
            <a:extLst>
              <a:ext uri="{FF2B5EF4-FFF2-40B4-BE49-F238E27FC236}">
                <a16:creationId xmlns:a16="http://schemas.microsoft.com/office/drawing/2014/main" id="{0E0A84D2-0FC1-5124-AE2C-373BBACDA305}"/>
              </a:ext>
            </a:extLst>
          </p:cNvPr>
          <p:cNvSpPr/>
          <p:nvPr/>
        </p:nvSpPr>
        <p:spPr>
          <a:xfrm>
            <a:off x="4735513" y="3027521"/>
            <a:ext cx="4645343" cy="280035"/>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Times New Roman" panose="02020603050405020304" pitchFamily="18" charset="0"/>
                <a:ea typeface="Inter" pitchFamily="34" charset="-122"/>
                <a:cs typeface="Times New Roman" panose="02020603050405020304" pitchFamily="18" charset="0"/>
              </a:rPr>
              <a:t>Allocating participants to control or experimental groups</a:t>
            </a:r>
            <a:endParaRPr lang="en-US" sz="1350" dirty="0">
              <a:latin typeface="Times New Roman" panose="02020603050405020304" pitchFamily="18" charset="0"/>
              <a:cs typeface="Times New Roman" panose="02020603050405020304" pitchFamily="18" charset="0"/>
            </a:endParaRPr>
          </a:p>
        </p:txBody>
      </p:sp>
      <p:sp>
        <p:nvSpPr>
          <p:cNvPr id="12" name="Shape 8">
            <a:extLst>
              <a:ext uri="{FF2B5EF4-FFF2-40B4-BE49-F238E27FC236}">
                <a16:creationId xmlns:a16="http://schemas.microsoft.com/office/drawing/2014/main" id="{171123AF-7B02-CECE-B3C4-FB3BA43359D0}"/>
              </a:ext>
            </a:extLst>
          </p:cNvPr>
          <p:cNvSpPr/>
          <p:nvPr/>
        </p:nvSpPr>
        <p:spPr>
          <a:xfrm>
            <a:off x="4648002" y="3472934"/>
            <a:ext cx="9879568" cy="11430"/>
          </a:xfrm>
          <a:prstGeom prst="roundRect">
            <a:avLst>
              <a:gd name="adj" fmla="val 642928"/>
            </a:avLst>
          </a:prstGeom>
          <a:solidFill>
            <a:srgbClr val="C0C1D7"/>
          </a:solidFill>
          <a:ln/>
        </p:spPr>
      </p:sp>
      <p:sp>
        <p:nvSpPr>
          <p:cNvPr id="13" name="Shape 9">
            <a:extLst>
              <a:ext uri="{FF2B5EF4-FFF2-40B4-BE49-F238E27FC236}">
                <a16:creationId xmlns:a16="http://schemas.microsoft.com/office/drawing/2014/main" id="{480C096C-7D5A-7DC7-B94D-A2ACE993037C}"/>
              </a:ext>
            </a:extLst>
          </p:cNvPr>
          <p:cNvSpPr/>
          <p:nvPr/>
        </p:nvSpPr>
        <p:spPr>
          <a:xfrm>
            <a:off x="1209238" y="3569851"/>
            <a:ext cx="5027057" cy="1008102"/>
          </a:xfrm>
          <a:prstGeom prst="roundRect">
            <a:avLst>
              <a:gd name="adj" fmla="val 7290"/>
            </a:avLst>
          </a:prstGeom>
          <a:solidFill>
            <a:srgbClr val="DADBF1"/>
          </a:solidFill>
          <a:ln w="7620">
            <a:solidFill>
              <a:srgbClr val="C0C1D7"/>
            </a:solidFill>
            <a:prstDash val="solid"/>
          </a:ln>
        </p:spPr>
      </p:sp>
      <p:pic>
        <p:nvPicPr>
          <p:cNvPr id="14" name="Image 2" descr="preencoded.png">
            <a:extLst>
              <a:ext uri="{FF2B5EF4-FFF2-40B4-BE49-F238E27FC236}">
                <a16:creationId xmlns:a16="http://schemas.microsoft.com/office/drawing/2014/main" id="{1C70B6D9-F9C3-6C1C-1CD2-719C279B2335}"/>
              </a:ext>
            </a:extLst>
          </p:cNvPr>
          <p:cNvPicPr>
            <a:picLocks noChangeAspect="1"/>
          </p:cNvPicPr>
          <p:nvPr/>
        </p:nvPicPr>
        <p:blipFill>
          <a:blip r:embed="rId5"/>
          <a:stretch>
            <a:fillRect/>
          </a:stretch>
        </p:blipFill>
        <p:spPr>
          <a:xfrm>
            <a:off x="3599775" y="3920133"/>
            <a:ext cx="245983" cy="307538"/>
          </a:xfrm>
          <a:prstGeom prst="rect">
            <a:avLst/>
          </a:prstGeom>
        </p:spPr>
      </p:pic>
      <p:sp>
        <p:nvSpPr>
          <p:cNvPr id="15" name="Text 10">
            <a:extLst>
              <a:ext uri="{FF2B5EF4-FFF2-40B4-BE49-F238E27FC236}">
                <a16:creationId xmlns:a16="http://schemas.microsoft.com/office/drawing/2014/main" id="{F0D90624-F576-BD26-D65C-EC1BC9B3FD6F}"/>
              </a:ext>
            </a:extLst>
          </p:cNvPr>
          <p:cNvSpPr/>
          <p:nvPr/>
        </p:nvSpPr>
        <p:spPr>
          <a:xfrm>
            <a:off x="6411198" y="3744754"/>
            <a:ext cx="2327791" cy="2733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Times New Roman" panose="02020603050405020304" pitchFamily="18" charset="0"/>
                <a:ea typeface="Inter Bold" pitchFamily="34" charset="-122"/>
                <a:cs typeface="Times New Roman" panose="02020603050405020304" pitchFamily="18" charset="0"/>
              </a:rPr>
              <a:t>Variable Manipulation</a:t>
            </a:r>
            <a:endParaRPr lang="en-US" sz="1700" dirty="0">
              <a:latin typeface="Times New Roman" panose="02020603050405020304" pitchFamily="18" charset="0"/>
              <a:cs typeface="Times New Roman" panose="02020603050405020304" pitchFamily="18" charset="0"/>
            </a:endParaRPr>
          </a:p>
        </p:txBody>
      </p:sp>
      <p:sp>
        <p:nvSpPr>
          <p:cNvPr id="16" name="Text 11">
            <a:extLst>
              <a:ext uri="{FF2B5EF4-FFF2-40B4-BE49-F238E27FC236}">
                <a16:creationId xmlns:a16="http://schemas.microsoft.com/office/drawing/2014/main" id="{21317C61-72B7-0C01-481C-496DA6C64F30}"/>
              </a:ext>
            </a:extLst>
          </p:cNvPr>
          <p:cNvSpPr/>
          <p:nvPr/>
        </p:nvSpPr>
        <p:spPr>
          <a:xfrm>
            <a:off x="6411198" y="4123015"/>
            <a:ext cx="3892034" cy="280035"/>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Times New Roman" panose="02020603050405020304" pitchFamily="18" charset="0"/>
                <a:ea typeface="Inter" pitchFamily="34" charset="-122"/>
                <a:cs typeface="Times New Roman" panose="02020603050405020304" pitchFamily="18" charset="0"/>
              </a:rPr>
              <a:t>Systematically changing independent variables</a:t>
            </a:r>
            <a:endParaRPr lang="en-US" sz="1350" dirty="0">
              <a:latin typeface="Times New Roman" panose="02020603050405020304" pitchFamily="18" charset="0"/>
              <a:cs typeface="Times New Roman" panose="02020603050405020304" pitchFamily="18" charset="0"/>
            </a:endParaRPr>
          </a:p>
        </p:txBody>
      </p:sp>
      <p:sp>
        <p:nvSpPr>
          <p:cNvPr id="17" name="Shape 12">
            <a:extLst>
              <a:ext uri="{FF2B5EF4-FFF2-40B4-BE49-F238E27FC236}">
                <a16:creationId xmlns:a16="http://schemas.microsoft.com/office/drawing/2014/main" id="{6220EC09-AA11-5F90-718F-3BB30E45A9C2}"/>
              </a:ext>
            </a:extLst>
          </p:cNvPr>
          <p:cNvSpPr/>
          <p:nvPr/>
        </p:nvSpPr>
        <p:spPr>
          <a:xfrm>
            <a:off x="6323687" y="4568428"/>
            <a:ext cx="8203883" cy="11430"/>
          </a:xfrm>
          <a:prstGeom prst="roundRect">
            <a:avLst>
              <a:gd name="adj" fmla="val 642928"/>
            </a:avLst>
          </a:prstGeom>
          <a:solidFill>
            <a:srgbClr val="C0C1D7"/>
          </a:solidFill>
          <a:ln/>
        </p:spPr>
      </p:sp>
      <p:sp>
        <p:nvSpPr>
          <p:cNvPr id="18" name="Shape 13">
            <a:extLst>
              <a:ext uri="{FF2B5EF4-FFF2-40B4-BE49-F238E27FC236}">
                <a16:creationId xmlns:a16="http://schemas.microsoft.com/office/drawing/2014/main" id="{7265F5A8-135A-B7A1-613D-ED5A1BD0BED4}"/>
              </a:ext>
            </a:extLst>
          </p:cNvPr>
          <p:cNvSpPr/>
          <p:nvPr/>
        </p:nvSpPr>
        <p:spPr>
          <a:xfrm>
            <a:off x="1209238" y="4665345"/>
            <a:ext cx="6702862" cy="1008102"/>
          </a:xfrm>
          <a:prstGeom prst="roundRect">
            <a:avLst>
              <a:gd name="adj" fmla="val 7290"/>
            </a:avLst>
          </a:prstGeom>
          <a:solidFill>
            <a:srgbClr val="DADBF1"/>
          </a:solidFill>
          <a:ln w="7620">
            <a:solidFill>
              <a:srgbClr val="C0C1D7"/>
            </a:solidFill>
            <a:prstDash val="solid"/>
          </a:ln>
        </p:spPr>
      </p:sp>
      <p:pic>
        <p:nvPicPr>
          <p:cNvPr id="19" name="Image 3" descr="preencoded.png">
            <a:extLst>
              <a:ext uri="{FF2B5EF4-FFF2-40B4-BE49-F238E27FC236}">
                <a16:creationId xmlns:a16="http://schemas.microsoft.com/office/drawing/2014/main" id="{F5FF2B03-F27A-B004-82D0-B57259DBBDD7}"/>
              </a:ext>
            </a:extLst>
          </p:cNvPr>
          <p:cNvPicPr>
            <a:picLocks noChangeAspect="1"/>
          </p:cNvPicPr>
          <p:nvPr/>
        </p:nvPicPr>
        <p:blipFill>
          <a:blip r:embed="rId6"/>
          <a:stretch>
            <a:fillRect/>
          </a:stretch>
        </p:blipFill>
        <p:spPr>
          <a:xfrm>
            <a:off x="4437618" y="5015627"/>
            <a:ext cx="245983" cy="307538"/>
          </a:xfrm>
          <a:prstGeom prst="rect">
            <a:avLst/>
          </a:prstGeom>
        </p:spPr>
      </p:pic>
      <p:sp>
        <p:nvSpPr>
          <p:cNvPr id="20" name="Text 14">
            <a:extLst>
              <a:ext uri="{FF2B5EF4-FFF2-40B4-BE49-F238E27FC236}">
                <a16:creationId xmlns:a16="http://schemas.microsoft.com/office/drawing/2014/main" id="{F20FA397-C92E-0EA2-60E9-F14AE10F1763}"/>
              </a:ext>
            </a:extLst>
          </p:cNvPr>
          <p:cNvSpPr/>
          <p:nvPr/>
        </p:nvSpPr>
        <p:spPr>
          <a:xfrm>
            <a:off x="8087003" y="4840248"/>
            <a:ext cx="2507813" cy="273368"/>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Times New Roman" panose="02020603050405020304" pitchFamily="18" charset="0"/>
                <a:ea typeface="Inter Bold" pitchFamily="34" charset="-122"/>
                <a:cs typeface="Times New Roman" panose="02020603050405020304" pitchFamily="18" charset="0"/>
              </a:rPr>
              <a:t>Outcome Measurement</a:t>
            </a:r>
            <a:endParaRPr lang="en-US" sz="1700" dirty="0">
              <a:latin typeface="Times New Roman" panose="02020603050405020304" pitchFamily="18" charset="0"/>
              <a:cs typeface="Times New Roman" panose="02020603050405020304" pitchFamily="18" charset="0"/>
            </a:endParaRPr>
          </a:p>
        </p:txBody>
      </p:sp>
      <p:sp>
        <p:nvSpPr>
          <p:cNvPr id="21" name="Text 15">
            <a:extLst>
              <a:ext uri="{FF2B5EF4-FFF2-40B4-BE49-F238E27FC236}">
                <a16:creationId xmlns:a16="http://schemas.microsoft.com/office/drawing/2014/main" id="{98E40BC2-3114-AA0D-A31D-B99B7339884A}"/>
              </a:ext>
            </a:extLst>
          </p:cNvPr>
          <p:cNvSpPr/>
          <p:nvPr/>
        </p:nvSpPr>
        <p:spPr>
          <a:xfrm>
            <a:off x="8087003" y="5218509"/>
            <a:ext cx="3567113" cy="280035"/>
          </a:xfrm>
          <a:prstGeom prst="rect">
            <a:avLst/>
          </a:prstGeom>
          <a:noFill/>
          <a:ln/>
        </p:spPr>
        <p:txBody>
          <a:bodyPr wrap="none" lIns="0" tIns="0" rIns="0" bIns="0" rtlCol="0" anchor="t"/>
          <a:lstStyle/>
          <a:p>
            <a:pPr marL="0" indent="0" algn="l">
              <a:lnSpc>
                <a:spcPts val="2200"/>
              </a:lnSpc>
              <a:buNone/>
            </a:pPr>
            <a:r>
              <a:rPr lang="en-US" sz="1350" dirty="0">
                <a:solidFill>
                  <a:srgbClr val="272525"/>
                </a:solidFill>
                <a:latin typeface="Times New Roman" panose="02020603050405020304" pitchFamily="18" charset="0"/>
                <a:ea typeface="Inter" pitchFamily="34" charset="-122"/>
                <a:cs typeface="Times New Roman" panose="02020603050405020304" pitchFamily="18" charset="0"/>
              </a:rPr>
              <a:t>Quantifying effects on dependent variables</a:t>
            </a:r>
            <a:endParaRPr lang="en-US" sz="1350" dirty="0">
              <a:latin typeface="Times New Roman" panose="02020603050405020304" pitchFamily="18" charset="0"/>
              <a:cs typeface="Times New Roman" panose="02020603050405020304" pitchFamily="18" charset="0"/>
            </a:endParaRPr>
          </a:p>
        </p:txBody>
      </p:sp>
      <p:sp>
        <p:nvSpPr>
          <p:cNvPr id="22" name="Text 16">
            <a:extLst>
              <a:ext uri="{FF2B5EF4-FFF2-40B4-BE49-F238E27FC236}">
                <a16:creationId xmlns:a16="http://schemas.microsoft.com/office/drawing/2014/main" id="{1E166EF7-206A-E56D-14CB-A4233D561A71}"/>
              </a:ext>
            </a:extLst>
          </p:cNvPr>
          <p:cNvSpPr/>
          <p:nvPr/>
        </p:nvSpPr>
        <p:spPr>
          <a:xfrm>
            <a:off x="1209238" y="5870258"/>
            <a:ext cx="13405723" cy="840105"/>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Times New Roman" panose="02020603050405020304" pitchFamily="18" charset="0"/>
                <a:ea typeface="Inter" pitchFamily="34" charset="-122"/>
                <a:cs typeface="Times New Roman" panose="02020603050405020304" pitchFamily="18" charset="0"/>
              </a:rPr>
              <a:t>Experimental research stands as the gold standard for establishing causal relationships between variables. By systematically manipulating one factor while controlling others, researchers can determine if changes in an independent variable directly cause changes in dependent variables. This rigorous approach enables scientists to test theoretical predictions with empirical evidence.</a:t>
            </a:r>
            <a:endParaRPr lang="en-US" sz="1350" dirty="0">
              <a:latin typeface="Times New Roman" panose="02020603050405020304" pitchFamily="18" charset="0"/>
              <a:cs typeface="Times New Roman" panose="02020603050405020304" pitchFamily="18" charset="0"/>
            </a:endParaRPr>
          </a:p>
        </p:txBody>
      </p:sp>
      <p:sp>
        <p:nvSpPr>
          <p:cNvPr id="23" name="Text 17">
            <a:extLst>
              <a:ext uri="{FF2B5EF4-FFF2-40B4-BE49-F238E27FC236}">
                <a16:creationId xmlns:a16="http://schemas.microsoft.com/office/drawing/2014/main" id="{5456C99D-633A-BDB9-1F16-73ACDB119F26}"/>
              </a:ext>
            </a:extLst>
          </p:cNvPr>
          <p:cNvSpPr/>
          <p:nvPr/>
        </p:nvSpPr>
        <p:spPr>
          <a:xfrm>
            <a:off x="1209238" y="6907173"/>
            <a:ext cx="13405723" cy="840105"/>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Times New Roman" panose="02020603050405020304" pitchFamily="18" charset="0"/>
                <a:ea typeface="Inter" pitchFamily="34" charset="-122"/>
                <a:cs typeface="Times New Roman" panose="02020603050405020304" pitchFamily="18" charset="0"/>
              </a:rPr>
              <a:t>The methodology requires careful design to eliminate alternative explanations, including random assignment to reduce selection bias and control groups to account for external factors. While most commonly associated with laboratory sciences, experimental designs are also adapted for field settings in disciplines ranging from agriculture to educational psychology.</a:t>
            </a:r>
            <a:endParaRPr lang="en-US" sz="13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3774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49DDA5E-9692-C616-BEAF-8595A89B34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238F471-0E0A-7006-610A-FFAB6019462C}"/>
              </a:ext>
            </a:extLst>
          </p:cNvPr>
          <p:cNvSpPr/>
          <p:nvPr/>
        </p:nvSpPr>
        <p:spPr>
          <a:xfrm>
            <a:off x="1152803" y="526613"/>
            <a:ext cx="8519636" cy="598408"/>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Inter Bold" pitchFamily="34" charset="0"/>
                <a:ea typeface="Inter Bold" pitchFamily="34" charset="-122"/>
                <a:cs typeface="Inter Bold" pitchFamily="34" charset="-120"/>
              </a:rPr>
              <a:t>Comparing Research Methodologies</a:t>
            </a:r>
            <a:endParaRPr lang="en-US" sz="3750" dirty="0"/>
          </a:p>
        </p:txBody>
      </p:sp>
      <p:sp>
        <p:nvSpPr>
          <p:cNvPr id="3" name="Shape 1">
            <a:extLst>
              <a:ext uri="{FF2B5EF4-FFF2-40B4-BE49-F238E27FC236}">
                <a16:creationId xmlns:a16="http://schemas.microsoft.com/office/drawing/2014/main" id="{4E9823F6-B98A-95A1-CDE3-35067C38C707}"/>
              </a:ext>
            </a:extLst>
          </p:cNvPr>
          <p:cNvSpPr/>
          <p:nvPr/>
        </p:nvSpPr>
        <p:spPr>
          <a:xfrm>
            <a:off x="1152803" y="1508046"/>
            <a:ext cx="13289994" cy="3630692"/>
          </a:xfrm>
          <a:prstGeom prst="roundRect">
            <a:avLst>
              <a:gd name="adj" fmla="val 2215"/>
            </a:avLst>
          </a:prstGeom>
          <a:noFill/>
          <a:ln w="7620">
            <a:solidFill>
              <a:srgbClr val="000000">
                <a:alpha val="8000"/>
              </a:srgbClr>
            </a:solidFill>
            <a:prstDash val="solid"/>
          </a:ln>
        </p:spPr>
      </p:sp>
      <p:sp>
        <p:nvSpPr>
          <p:cNvPr id="4" name="Shape 2">
            <a:extLst>
              <a:ext uri="{FF2B5EF4-FFF2-40B4-BE49-F238E27FC236}">
                <a16:creationId xmlns:a16="http://schemas.microsoft.com/office/drawing/2014/main" id="{608B0B38-E462-B36B-BF20-8D33A522CAC4}"/>
              </a:ext>
            </a:extLst>
          </p:cNvPr>
          <p:cNvSpPr/>
          <p:nvPr/>
        </p:nvSpPr>
        <p:spPr>
          <a:xfrm>
            <a:off x="1160423" y="1515666"/>
            <a:ext cx="13274754" cy="551498"/>
          </a:xfrm>
          <a:prstGeom prst="rect">
            <a:avLst/>
          </a:prstGeom>
          <a:solidFill>
            <a:srgbClr val="FFFFFF">
              <a:alpha val="4000"/>
            </a:srgbClr>
          </a:solidFill>
          <a:ln/>
        </p:spPr>
      </p:sp>
      <p:sp>
        <p:nvSpPr>
          <p:cNvPr id="5" name="Text 3">
            <a:extLst>
              <a:ext uri="{FF2B5EF4-FFF2-40B4-BE49-F238E27FC236}">
                <a16:creationId xmlns:a16="http://schemas.microsoft.com/office/drawing/2014/main" id="{04574C2E-D9DB-183C-1DA2-6521461E3F50}"/>
              </a:ext>
            </a:extLst>
          </p:cNvPr>
          <p:cNvSpPr/>
          <p:nvPr/>
        </p:nvSpPr>
        <p:spPr>
          <a:xfrm>
            <a:off x="1352113" y="1638181"/>
            <a:ext cx="2931914" cy="306467"/>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Inter" pitchFamily="34" charset="0"/>
                <a:ea typeface="Inter" pitchFamily="34" charset="-122"/>
                <a:cs typeface="Inter" pitchFamily="34" charset="-120"/>
              </a:rPr>
              <a:t>Research Type</a:t>
            </a:r>
            <a:endParaRPr lang="en-US" sz="1500" dirty="0"/>
          </a:p>
        </p:txBody>
      </p:sp>
      <p:sp>
        <p:nvSpPr>
          <p:cNvPr id="6" name="Text 4">
            <a:extLst>
              <a:ext uri="{FF2B5EF4-FFF2-40B4-BE49-F238E27FC236}">
                <a16:creationId xmlns:a16="http://schemas.microsoft.com/office/drawing/2014/main" id="{813546D4-2D97-695E-2B9E-061AE6F99E3C}"/>
              </a:ext>
            </a:extLst>
          </p:cNvPr>
          <p:cNvSpPr/>
          <p:nvPr/>
        </p:nvSpPr>
        <p:spPr>
          <a:xfrm>
            <a:off x="4674552" y="1638181"/>
            <a:ext cx="2928104" cy="306467"/>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Inter" pitchFamily="34" charset="0"/>
                <a:ea typeface="Inter" pitchFamily="34" charset="-122"/>
                <a:cs typeface="Inter" pitchFamily="34" charset="-120"/>
              </a:rPr>
              <a:t>Primary Goal</a:t>
            </a:r>
            <a:endParaRPr lang="en-US" sz="1500" dirty="0"/>
          </a:p>
        </p:txBody>
      </p:sp>
      <p:sp>
        <p:nvSpPr>
          <p:cNvPr id="7" name="Text 5">
            <a:extLst>
              <a:ext uri="{FF2B5EF4-FFF2-40B4-BE49-F238E27FC236}">
                <a16:creationId xmlns:a16="http://schemas.microsoft.com/office/drawing/2014/main" id="{ACFE2A61-C722-5CB2-459A-0A3A437B7407}"/>
              </a:ext>
            </a:extLst>
          </p:cNvPr>
          <p:cNvSpPr/>
          <p:nvPr/>
        </p:nvSpPr>
        <p:spPr>
          <a:xfrm>
            <a:off x="7993182" y="1638181"/>
            <a:ext cx="2928104" cy="306467"/>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Inter" pitchFamily="34" charset="0"/>
                <a:ea typeface="Inter" pitchFamily="34" charset="-122"/>
                <a:cs typeface="Inter" pitchFamily="34" charset="-120"/>
              </a:rPr>
              <a:t>Typical Methods</a:t>
            </a:r>
            <a:endParaRPr lang="en-US" sz="1500" dirty="0"/>
          </a:p>
        </p:txBody>
      </p:sp>
      <p:sp>
        <p:nvSpPr>
          <p:cNvPr id="8" name="Text 6">
            <a:extLst>
              <a:ext uri="{FF2B5EF4-FFF2-40B4-BE49-F238E27FC236}">
                <a16:creationId xmlns:a16="http://schemas.microsoft.com/office/drawing/2014/main" id="{6D859EAF-2EC1-227E-276B-F16A4ACD9930}"/>
              </a:ext>
            </a:extLst>
          </p:cNvPr>
          <p:cNvSpPr/>
          <p:nvPr/>
        </p:nvSpPr>
        <p:spPr>
          <a:xfrm>
            <a:off x="11311811" y="1638181"/>
            <a:ext cx="2931914" cy="306467"/>
          </a:xfrm>
          <a:prstGeom prst="rect">
            <a:avLst/>
          </a:prstGeom>
          <a:noFill/>
          <a:ln/>
        </p:spPr>
        <p:txBody>
          <a:bodyPr wrap="none" lIns="0" tIns="0" rIns="0" bIns="0" rtlCol="0" anchor="t"/>
          <a:lstStyle/>
          <a:p>
            <a:pPr marL="0" indent="0" algn="l">
              <a:lnSpc>
                <a:spcPts val="2400"/>
              </a:lnSpc>
              <a:buNone/>
            </a:pPr>
            <a:r>
              <a:rPr lang="en-US" sz="1500" b="1" dirty="0">
                <a:solidFill>
                  <a:srgbClr val="272525"/>
                </a:solidFill>
                <a:latin typeface="Inter" pitchFamily="34" charset="0"/>
                <a:ea typeface="Inter" pitchFamily="34" charset="-122"/>
                <a:cs typeface="Inter" pitchFamily="34" charset="-120"/>
              </a:rPr>
              <a:t>Key Strength</a:t>
            </a:r>
            <a:endParaRPr lang="en-US" sz="1500" dirty="0"/>
          </a:p>
        </p:txBody>
      </p:sp>
      <p:sp>
        <p:nvSpPr>
          <p:cNvPr id="9" name="Shape 7">
            <a:extLst>
              <a:ext uri="{FF2B5EF4-FFF2-40B4-BE49-F238E27FC236}">
                <a16:creationId xmlns:a16="http://schemas.microsoft.com/office/drawing/2014/main" id="{B6C251BC-600E-CC51-F83E-038C61907A63}"/>
              </a:ext>
            </a:extLst>
          </p:cNvPr>
          <p:cNvSpPr/>
          <p:nvPr/>
        </p:nvSpPr>
        <p:spPr>
          <a:xfrm>
            <a:off x="1160423" y="2067163"/>
            <a:ext cx="13274754" cy="857964"/>
          </a:xfrm>
          <a:prstGeom prst="rect">
            <a:avLst/>
          </a:prstGeom>
          <a:solidFill>
            <a:srgbClr val="000000">
              <a:alpha val="4000"/>
            </a:srgbClr>
          </a:solidFill>
          <a:ln/>
        </p:spPr>
      </p:sp>
      <p:sp>
        <p:nvSpPr>
          <p:cNvPr id="10" name="Text 8">
            <a:extLst>
              <a:ext uri="{FF2B5EF4-FFF2-40B4-BE49-F238E27FC236}">
                <a16:creationId xmlns:a16="http://schemas.microsoft.com/office/drawing/2014/main" id="{E87341BE-6F5B-4EC4-6350-6CCDB1B0FAAF}"/>
              </a:ext>
            </a:extLst>
          </p:cNvPr>
          <p:cNvSpPr/>
          <p:nvPr/>
        </p:nvSpPr>
        <p:spPr>
          <a:xfrm>
            <a:off x="1352113" y="2189678"/>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Basic</a:t>
            </a:r>
            <a:endParaRPr lang="en-US" sz="1500" dirty="0"/>
          </a:p>
        </p:txBody>
      </p:sp>
      <p:sp>
        <p:nvSpPr>
          <p:cNvPr id="11" name="Text 9">
            <a:extLst>
              <a:ext uri="{FF2B5EF4-FFF2-40B4-BE49-F238E27FC236}">
                <a16:creationId xmlns:a16="http://schemas.microsoft.com/office/drawing/2014/main" id="{080E6C0A-D4EE-D09A-DB3D-A8E306697931}"/>
              </a:ext>
            </a:extLst>
          </p:cNvPr>
          <p:cNvSpPr/>
          <p:nvPr/>
        </p:nvSpPr>
        <p:spPr>
          <a:xfrm>
            <a:off x="4674552" y="2189678"/>
            <a:ext cx="292810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Develop theories</a:t>
            </a:r>
            <a:endParaRPr lang="en-US" sz="1500" dirty="0"/>
          </a:p>
        </p:txBody>
      </p:sp>
      <p:sp>
        <p:nvSpPr>
          <p:cNvPr id="12" name="Text 10">
            <a:extLst>
              <a:ext uri="{FF2B5EF4-FFF2-40B4-BE49-F238E27FC236}">
                <a16:creationId xmlns:a16="http://schemas.microsoft.com/office/drawing/2014/main" id="{6EAEB4DA-0A16-341E-39F3-F8E0B2B67FBE}"/>
              </a:ext>
            </a:extLst>
          </p:cNvPr>
          <p:cNvSpPr/>
          <p:nvPr/>
        </p:nvSpPr>
        <p:spPr>
          <a:xfrm>
            <a:off x="7993182" y="2189678"/>
            <a:ext cx="2928104" cy="612934"/>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Laboratory studies, mathematical modeling</a:t>
            </a:r>
            <a:endParaRPr lang="en-US" sz="1500" dirty="0"/>
          </a:p>
        </p:txBody>
      </p:sp>
      <p:sp>
        <p:nvSpPr>
          <p:cNvPr id="13" name="Text 11">
            <a:extLst>
              <a:ext uri="{FF2B5EF4-FFF2-40B4-BE49-F238E27FC236}">
                <a16:creationId xmlns:a16="http://schemas.microsoft.com/office/drawing/2014/main" id="{5B53865D-30BB-61C9-7AFA-53E6FD54BE5C}"/>
              </a:ext>
            </a:extLst>
          </p:cNvPr>
          <p:cNvSpPr/>
          <p:nvPr/>
        </p:nvSpPr>
        <p:spPr>
          <a:xfrm>
            <a:off x="11311811" y="2189678"/>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Theoretical foundation</a:t>
            </a:r>
            <a:endParaRPr lang="en-US" sz="1500" dirty="0"/>
          </a:p>
        </p:txBody>
      </p:sp>
      <p:sp>
        <p:nvSpPr>
          <p:cNvPr id="14" name="Shape 12">
            <a:extLst>
              <a:ext uri="{FF2B5EF4-FFF2-40B4-BE49-F238E27FC236}">
                <a16:creationId xmlns:a16="http://schemas.microsoft.com/office/drawing/2014/main" id="{28FCAAFE-BDA8-C112-4F24-E1EED65D0F4E}"/>
              </a:ext>
            </a:extLst>
          </p:cNvPr>
          <p:cNvSpPr/>
          <p:nvPr/>
        </p:nvSpPr>
        <p:spPr>
          <a:xfrm>
            <a:off x="1160423" y="2925128"/>
            <a:ext cx="13274754" cy="551498"/>
          </a:xfrm>
          <a:prstGeom prst="rect">
            <a:avLst/>
          </a:prstGeom>
          <a:solidFill>
            <a:srgbClr val="FFFFFF">
              <a:alpha val="4000"/>
            </a:srgbClr>
          </a:solidFill>
          <a:ln/>
        </p:spPr>
      </p:sp>
      <p:sp>
        <p:nvSpPr>
          <p:cNvPr id="15" name="Text 13">
            <a:extLst>
              <a:ext uri="{FF2B5EF4-FFF2-40B4-BE49-F238E27FC236}">
                <a16:creationId xmlns:a16="http://schemas.microsoft.com/office/drawing/2014/main" id="{86E7CE9F-9AA3-20B2-235E-8A6CA8A08E84}"/>
              </a:ext>
            </a:extLst>
          </p:cNvPr>
          <p:cNvSpPr/>
          <p:nvPr/>
        </p:nvSpPr>
        <p:spPr>
          <a:xfrm>
            <a:off x="1352113" y="3047643"/>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Applied</a:t>
            </a:r>
            <a:endParaRPr lang="en-US" sz="1500" dirty="0"/>
          </a:p>
        </p:txBody>
      </p:sp>
      <p:sp>
        <p:nvSpPr>
          <p:cNvPr id="16" name="Text 14">
            <a:extLst>
              <a:ext uri="{FF2B5EF4-FFF2-40B4-BE49-F238E27FC236}">
                <a16:creationId xmlns:a16="http://schemas.microsoft.com/office/drawing/2014/main" id="{DBA9D29D-0741-FBCC-D487-D607D40CF0FA}"/>
              </a:ext>
            </a:extLst>
          </p:cNvPr>
          <p:cNvSpPr/>
          <p:nvPr/>
        </p:nvSpPr>
        <p:spPr>
          <a:xfrm>
            <a:off x="4674552" y="3047643"/>
            <a:ext cx="292810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Solve problems</a:t>
            </a:r>
            <a:endParaRPr lang="en-US" sz="1500" dirty="0"/>
          </a:p>
        </p:txBody>
      </p:sp>
      <p:sp>
        <p:nvSpPr>
          <p:cNvPr id="17" name="Text 15">
            <a:extLst>
              <a:ext uri="{FF2B5EF4-FFF2-40B4-BE49-F238E27FC236}">
                <a16:creationId xmlns:a16="http://schemas.microsoft.com/office/drawing/2014/main" id="{12C8FC75-AF52-36A6-DB67-186E10F9A7CD}"/>
              </a:ext>
            </a:extLst>
          </p:cNvPr>
          <p:cNvSpPr/>
          <p:nvPr/>
        </p:nvSpPr>
        <p:spPr>
          <a:xfrm>
            <a:off x="7993182" y="3047643"/>
            <a:ext cx="292810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Field testing, prototyping</a:t>
            </a:r>
            <a:endParaRPr lang="en-US" sz="1500" dirty="0"/>
          </a:p>
        </p:txBody>
      </p:sp>
      <p:sp>
        <p:nvSpPr>
          <p:cNvPr id="18" name="Text 16">
            <a:extLst>
              <a:ext uri="{FF2B5EF4-FFF2-40B4-BE49-F238E27FC236}">
                <a16:creationId xmlns:a16="http://schemas.microsoft.com/office/drawing/2014/main" id="{005144F4-A6BD-EE5B-FD59-A7157E9C6FC0}"/>
              </a:ext>
            </a:extLst>
          </p:cNvPr>
          <p:cNvSpPr/>
          <p:nvPr/>
        </p:nvSpPr>
        <p:spPr>
          <a:xfrm>
            <a:off x="11311811" y="3047643"/>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Practical utility</a:t>
            </a:r>
            <a:endParaRPr lang="en-US" sz="1500" dirty="0"/>
          </a:p>
        </p:txBody>
      </p:sp>
      <p:sp>
        <p:nvSpPr>
          <p:cNvPr id="19" name="Shape 17">
            <a:extLst>
              <a:ext uri="{FF2B5EF4-FFF2-40B4-BE49-F238E27FC236}">
                <a16:creationId xmlns:a16="http://schemas.microsoft.com/office/drawing/2014/main" id="{74E0AAEE-EFEA-ED77-78B0-0BBE73CF13E4}"/>
              </a:ext>
            </a:extLst>
          </p:cNvPr>
          <p:cNvSpPr/>
          <p:nvPr/>
        </p:nvSpPr>
        <p:spPr>
          <a:xfrm>
            <a:off x="1160423" y="3476625"/>
            <a:ext cx="13274754" cy="551498"/>
          </a:xfrm>
          <a:prstGeom prst="rect">
            <a:avLst/>
          </a:prstGeom>
          <a:solidFill>
            <a:srgbClr val="000000">
              <a:alpha val="4000"/>
            </a:srgbClr>
          </a:solidFill>
          <a:ln/>
        </p:spPr>
      </p:sp>
      <p:sp>
        <p:nvSpPr>
          <p:cNvPr id="20" name="Text 18">
            <a:extLst>
              <a:ext uri="{FF2B5EF4-FFF2-40B4-BE49-F238E27FC236}">
                <a16:creationId xmlns:a16="http://schemas.microsoft.com/office/drawing/2014/main" id="{B4062E45-96CF-3BFE-654A-37E46AEBF83D}"/>
              </a:ext>
            </a:extLst>
          </p:cNvPr>
          <p:cNvSpPr/>
          <p:nvPr/>
        </p:nvSpPr>
        <p:spPr>
          <a:xfrm>
            <a:off x="1352113" y="3599140"/>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Exploratory</a:t>
            </a:r>
            <a:endParaRPr lang="en-US" sz="1500" dirty="0"/>
          </a:p>
        </p:txBody>
      </p:sp>
      <p:sp>
        <p:nvSpPr>
          <p:cNvPr id="21" name="Text 19">
            <a:extLst>
              <a:ext uri="{FF2B5EF4-FFF2-40B4-BE49-F238E27FC236}">
                <a16:creationId xmlns:a16="http://schemas.microsoft.com/office/drawing/2014/main" id="{98668DB4-7AC3-FC2B-B112-99B0C0D31E63}"/>
              </a:ext>
            </a:extLst>
          </p:cNvPr>
          <p:cNvSpPr/>
          <p:nvPr/>
        </p:nvSpPr>
        <p:spPr>
          <a:xfrm>
            <a:off x="4674552" y="3599140"/>
            <a:ext cx="292810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Generate hypotheses</a:t>
            </a:r>
            <a:endParaRPr lang="en-US" sz="1500" dirty="0"/>
          </a:p>
        </p:txBody>
      </p:sp>
      <p:sp>
        <p:nvSpPr>
          <p:cNvPr id="22" name="Text 20">
            <a:extLst>
              <a:ext uri="{FF2B5EF4-FFF2-40B4-BE49-F238E27FC236}">
                <a16:creationId xmlns:a16="http://schemas.microsoft.com/office/drawing/2014/main" id="{F448DF8E-43BC-0FF3-E48B-7F120781E45F}"/>
              </a:ext>
            </a:extLst>
          </p:cNvPr>
          <p:cNvSpPr/>
          <p:nvPr/>
        </p:nvSpPr>
        <p:spPr>
          <a:xfrm>
            <a:off x="7993182" y="3599140"/>
            <a:ext cx="292810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Interviews, focus groups</a:t>
            </a:r>
            <a:endParaRPr lang="en-US" sz="1500" dirty="0"/>
          </a:p>
        </p:txBody>
      </p:sp>
      <p:sp>
        <p:nvSpPr>
          <p:cNvPr id="23" name="Text 21">
            <a:extLst>
              <a:ext uri="{FF2B5EF4-FFF2-40B4-BE49-F238E27FC236}">
                <a16:creationId xmlns:a16="http://schemas.microsoft.com/office/drawing/2014/main" id="{768CD437-2799-453A-E268-FC8C53DCB0E5}"/>
              </a:ext>
            </a:extLst>
          </p:cNvPr>
          <p:cNvSpPr/>
          <p:nvPr/>
        </p:nvSpPr>
        <p:spPr>
          <a:xfrm>
            <a:off x="11311811" y="3599140"/>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Flexibility</a:t>
            </a:r>
            <a:endParaRPr lang="en-US" sz="1500" dirty="0"/>
          </a:p>
        </p:txBody>
      </p:sp>
      <p:sp>
        <p:nvSpPr>
          <p:cNvPr id="24" name="Shape 22">
            <a:extLst>
              <a:ext uri="{FF2B5EF4-FFF2-40B4-BE49-F238E27FC236}">
                <a16:creationId xmlns:a16="http://schemas.microsoft.com/office/drawing/2014/main" id="{A4746329-9BEB-E52F-6E5E-5695F3B63E22}"/>
              </a:ext>
            </a:extLst>
          </p:cNvPr>
          <p:cNvSpPr/>
          <p:nvPr/>
        </p:nvSpPr>
        <p:spPr>
          <a:xfrm>
            <a:off x="1160423" y="4028123"/>
            <a:ext cx="13274754" cy="551498"/>
          </a:xfrm>
          <a:prstGeom prst="rect">
            <a:avLst/>
          </a:prstGeom>
          <a:solidFill>
            <a:srgbClr val="FFFFFF">
              <a:alpha val="4000"/>
            </a:srgbClr>
          </a:solidFill>
          <a:ln/>
        </p:spPr>
      </p:sp>
      <p:sp>
        <p:nvSpPr>
          <p:cNvPr id="25" name="Text 23">
            <a:extLst>
              <a:ext uri="{FF2B5EF4-FFF2-40B4-BE49-F238E27FC236}">
                <a16:creationId xmlns:a16="http://schemas.microsoft.com/office/drawing/2014/main" id="{5AC6DF22-BCB2-D6C1-1590-CB066E93C934}"/>
              </a:ext>
            </a:extLst>
          </p:cNvPr>
          <p:cNvSpPr/>
          <p:nvPr/>
        </p:nvSpPr>
        <p:spPr>
          <a:xfrm>
            <a:off x="1352113" y="4150638"/>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Descriptive</a:t>
            </a:r>
            <a:endParaRPr lang="en-US" sz="1500" dirty="0"/>
          </a:p>
        </p:txBody>
      </p:sp>
      <p:sp>
        <p:nvSpPr>
          <p:cNvPr id="26" name="Text 24">
            <a:extLst>
              <a:ext uri="{FF2B5EF4-FFF2-40B4-BE49-F238E27FC236}">
                <a16:creationId xmlns:a16="http://schemas.microsoft.com/office/drawing/2014/main" id="{D2459ECD-874B-EABD-9709-131607AE529C}"/>
              </a:ext>
            </a:extLst>
          </p:cNvPr>
          <p:cNvSpPr/>
          <p:nvPr/>
        </p:nvSpPr>
        <p:spPr>
          <a:xfrm>
            <a:off x="4674552" y="4150638"/>
            <a:ext cx="292810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Document characteristics</a:t>
            </a:r>
            <a:endParaRPr lang="en-US" sz="1500" dirty="0"/>
          </a:p>
        </p:txBody>
      </p:sp>
      <p:sp>
        <p:nvSpPr>
          <p:cNvPr id="27" name="Text 25">
            <a:extLst>
              <a:ext uri="{FF2B5EF4-FFF2-40B4-BE49-F238E27FC236}">
                <a16:creationId xmlns:a16="http://schemas.microsoft.com/office/drawing/2014/main" id="{FB9D4F8E-7F35-CAEF-0BD2-C5D65AE0338D}"/>
              </a:ext>
            </a:extLst>
          </p:cNvPr>
          <p:cNvSpPr/>
          <p:nvPr/>
        </p:nvSpPr>
        <p:spPr>
          <a:xfrm>
            <a:off x="7993182" y="4150638"/>
            <a:ext cx="292810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Surveys, observations</a:t>
            </a:r>
            <a:endParaRPr lang="en-US" sz="1500" dirty="0"/>
          </a:p>
        </p:txBody>
      </p:sp>
      <p:sp>
        <p:nvSpPr>
          <p:cNvPr id="28" name="Text 26">
            <a:extLst>
              <a:ext uri="{FF2B5EF4-FFF2-40B4-BE49-F238E27FC236}">
                <a16:creationId xmlns:a16="http://schemas.microsoft.com/office/drawing/2014/main" id="{FCDE45B0-264B-3A91-2FF3-5418D1BD90AA}"/>
              </a:ext>
            </a:extLst>
          </p:cNvPr>
          <p:cNvSpPr/>
          <p:nvPr/>
        </p:nvSpPr>
        <p:spPr>
          <a:xfrm>
            <a:off x="11311811" y="4150638"/>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Detailed portrait</a:t>
            </a:r>
            <a:endParaRPr lang="en-US" sz="1500" dirty="0"/>
          </a:p>
        </p:txBody>
      </p:sp>
      <p:sp>
        <p:nvSpPr>
          <p:cNvPr id="29" name="Shape 27">
            <a:extLst>
              <a:ext uri="{FF2B5EF4-FFF2-40B4-BE49-F238E27FC236}">
                <a16:creationId xmlns:a16="http://schemas.microsoft.com/office/drawing/2014/main" id="{484C23DD-775F-DEB5-F95F-FF7B97371914}"/>
              </a:ext>
            </a:extLst>
          </p:cNvPr>
          <p:cNvSpPr/>
          <p:nvPr/>
        </p:nvSpPr>
        <p:spPr>
          <a:xfrm>
            <a:off x="1160423" y="4579620"/>
            <a:ext cx="13274754" cy="551498"/>
          </a:xfrm>
          <a:prstGeom prst="rect">
            <a:avLst/>
          </a:prstGeom>
          <a:solidFill>
            <a:srgbClr val="000000">
              <a:alpha val="4000"/>
            </a:srgbClr>
          </a:solidFill>
          <a:ln/>
        </p:spPr>
      </p:sp>
      <p:sp>
        <p:nvSpPr>
          <p:cNvPr id="30" name="Text 28">
            <a:extLst>
              <a:ext uri="{FF2B5EF4-FFF2-40B4-BE49-F238E27FC236}">
                <a16:creationId xmlns:a16="http://schemas.microsoft.com/office/drawing/2014/main" id="{A1D5FBB7-C627-BCCE-ED6D-67ADF5D14542}"/>
              </a:ext>
            </a:extLst>
          </p:cNvPr>
          <p:cNvSpPr/>
          <p:nvPr/>
        </p:nvSpPr>
        <p:spPr>
          <a:xfrm>
            <a:off x="1352113" y="4702135"/>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Experimental</a:t>
            </a:r>
            <a:endParaRPr lang="en-US" sz="1500" dirty="0"/>
          </a:p>
        </p:txBody>
      </p:sp>
      <p:sp>
        <p:nvSpPr>
          <p:cNvPr id="31" name="Text 29">
            <a:extLst>
              <a:ext uri="{FF2B5EF4-FFF2-40B4-BE49-F238E27FC236}">
                <a16:creationId xmlns:a16="http://schemas.microsoft.com/office/drawing/2014/main" id="{B0FBD63F-3E55-9F4C-A81F-4A8843A788A0}"/>
              </a:ext>
            </a:extLst>
          </p:cNvPr>
          <p:cNvSpPr/>
          <p:nvPr/>
        </p:nvSpPr>
        <p:spPr>
          <a:xfrm>
            <a:off x="4674552" y="4702135"/>
            <a:ext cx="292810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Establish causality</a:t>
            </a:r>
            <a:endParaRPr lang="en-US" sz="1500" dirty="0"/>
          </a:p>
        </p:txBody>
      </p:sp>
      <p:sp>
        <p:nvSpPr>
          <p:cNvPr id="32" name="Text 30">
            <a:extLst>
              <a:ext uri="{FF2B5EF4-FFF2-40B4-BE49-F238E27FC236}">
                <a16:creationId xmlns:a16="http://schemas.microsoft.com/office/drawing/2014/main" id="{EE859075-CF6B-D7D5-0F90-DEF9858086EE}"/>
              </a:ext>
            </a:extLst>
          </p:cNvPr>
          <p:cNvSpPr/>
          <p:nvPr/>
        </p:nvSpPr>
        <p:spPr>
          <a:xfrm>
            <a:off x="7993182" y="4702135"/>
            <a:ext cx="292810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Controlled experiments</a:t>
            </a:r>
            <a:endParaRPr lang="en-US" sz="1500" dirty="0"/>
          </a:p>
        </p:txBody>
      </p:sp>
      <p:sp>
        <p:nvSpPr>
          <p:cNvPr id="33" name="Text 31">
            <a:extLst>
              <a:ext uri="{FF2B5EF4-FFF2-40B4-BE49-F238E27FC236}">
                <a16:creationId xmlns:a16="http://schemas.microsoft.com/office/drawing/2014/main" id="{097EFE77-AEBC-D4E1-C369-1C4E3095D13A}"/>
              </a:ext>
            </a:extLst>
          </p:cNvPr>
          <p:cNvSpPr/>
          <p:nvPr/>
        </p:nvSpPr>
        <p:spPr>
          <a:xfrm>
            <a:off x="11311811" y="4702135"/>
            <a:ext cx="2931914" cy="306467"/>
          </a:xfrm>
          <a:prstGeom prst="rect">
            <a:avLst/>
          </a:prstGeom>
          <a:noFill/>
          <a:ln/>
        </p:spPr>
        <p:txBody>
          <a:bodyPr wrap="non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Causal inference</a:t>
            </a:r>
            <a:endParaRPr lang="en-US" sz="1500" dirty="0"/>
          </a:p>
        </p:txBody>
      </p:sp>
      <p:sp>
        <p:nvSpPr>
          <p:cNvPr id="34" name="Text 32">
            <a:extLst>
              <a:ext uri="{FF2B5EF4-FFF2-40B4-BE49-F238E27FC236}">
                <a16:creationId xmlns:a16="http://schemas.microsoft.com/office/drawing/2014/main" id="{221C071E-86C3-107C-480B-25582EA5470D}"/>
              </a:ext>
            </a:extLst>
          </p:cNvPr>
          <p:cNvSpPr/>
          <p:nvPr/>
        </p:nvSpPr>
        <p:spPr>
          <a:xfrm>
            <a:off x="1152803" y="5354122"/>
            <a:ext cx="13289994" cy="122586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Understanding the distinct features of each research methodology helps researchers select the most appropriate approach for their specific questions. While basic research generates theoretical knowledge, applied research implements solutions to concrete problems. Exploratory research uncovers new territories, descriptive research documents existing conditions, and experimental research establishes causal relationships.</a:t>
            </a:r>
            <a:endParaRPr lang="en-US" sz="1500" dirty="0"/>
          </a:p>
        </p:txBody>
      </p:sp>
      <p:sp>
        <p:nvSpPr>
          <p:cNvPr id="35" name="Text 33">
            <a:extLst>
              <a:ext uri="{FF2B5EF4-FFF2-40B4-BE49-F238E27FC236}">
                <a16:creationId xmlns:a16="http://schemas.microsoft.com/office/drawing/2014/main" id="{E1A8F34D-7C2E-1288-82F1-587D1B221B67}"/>
              </a:ext>
            </a:extLst>
          </p:cNvPr>
          <p:cNvSpPr/>
          <p:nvPr/>
        </p:nvSpPr>
        <p:spPr>
          <a:xfrm>
            <a:off x="1152803" y="6795373"/>
            <a:ext cx="13289994" cy="919401"/>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These methodologies often complement each other in comprehensive research programs. For instance, exploratory work might identify variables for descriptive studies, which then inform experimental designs, ultimately contributing to both basic understanding and applied solutions. The most effective researchers recognize when each approach is warranted.</a:t>
            </a:r>
            <a:endParaRPr lang="en-US" sz="1500" dirty="0"/>
          </a:p>
        </p:txBody>
      </p:sp>
    </p:spTree>
    <p:extLst>
      <p:ext uri="{BB962C8B-B14F-4D97-AF65-F5344CB8AC3E}">
        <p14:creationId xmlns:p14="http://schemas.microsoft.com/office/powerpoint/2010/main" val="1873135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9F1611-D0D1-577C-52D8-4AA148F3E67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CE52A4D-8EFC-5117-CB63-AA10428CE5E6}"/>
              </a:ext>
            </a:extLst>
          </p:cNvPr>
          <p:cNvSpPr/>
          <p:nvPr/>
        </p:nvSpPr>
        <p:spPr>
          <a:xfrm>
            <a:off x="1182291" y="479822"/>
            <a:ext cx="6370558" cy="545306"/>
          </a:xfrm>
          <a:prstGeom prst="rect">
            <a:avLst/>
          </a:prstGeom>
          <a:noFill/>
          <a:ln/>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Summary and Key Takeaways</a:t>
            </a:r>
            <a:endParaRPr lang="en-US" sz="3400" dirty="0"/>
          </a:p>
        </p:txBody>
      </p:sp>
      <p:sp>
        <p:nvSpPr>
          <p:cNvPr id="3" name="Shape 1">
            <a:extLst>
              <a:ext uri="{FF2B5EF4-FFF2-40B4-BE49-F238E27FC236}">
                <a16:creationId xmlns:a16="http://schemas.microsoft.com/office/drawing/2014/main" id="{25998F74-7A9B-8AAC-95E9-0983F263B6EE}"/>
              </a:ext>
            </a:extLst>
          </p:cNvPr>
          <p:cNvSpPr/>
          <p:nvPr/>
        </p:nvSpPr>
        <p:spPr>
          <a:xfrm>
            <a:off x="7875270" y="1374100"/>
            <a:ext cx="22860" cy="4308038"/>
          </a:xfrm>
          <a:prstGeom prst="roundRect">
            <a:avLst>
              <a:gd name="adj" fmla="val 320642"/>
            </a:avLst>
          </a:prstGeom>
          <a:solidFill>
            <a:srgbClr val="C0C1D7"/>
          </a:solidFill>
          <a:ln/>
        </p:spPr>
      </p:sp>
      <p:sp>
        <p:nvSpPr>
          <p:cNvPr id="4" name="Shape 2">
            <a:extLst>
              <a:ext uri="{FF2B5EF4-FFF2-40B4-BE49-F238E27FC236}">
                <a16:creationId xmlns:a16="http://schemas.microsoft.com/office/drawing/2014/main" id="{50310808-B445-477B-DD2A-49659D350125}"/>
              </a:ext>
            </a:extLst>
          </p:cNvPr>
          <p:cNvSpPr/>
          <p:nvPr/>
        </p:nvSpPr>
        <p:spPr>
          <a:xfrm>
            <a:off x="7189708" y="1559004"/>
            <a:ext cx="523518" cy="22860"/>
          </a:xfrm>
          <a:prstGeom prst="roundRect">
            <a:avLst>
              <a:gd name="adj" fmla="val 320642"/>
            </a:avLst>
          </a:prstGeom>
          <a:solidFill>
            <a:srgbClr val="C0C1D7"/>
          </a:solidFill>
          <a:ln/>
        </p:spPr>
      </p:sp>
      <p:sp>
        <p:nvSpPr>
          <p:cNvPr id="5" name="Shape 3">
            <a:extLst>
              <a:ext uri="{FF2B5EF4-FFF2-40B4-BE49-F238E27FC236}">
                <a16:creationId xmlns:a16="http://schemas.microsoft.com/office/drawing/2014/main" id="{7BF6927D-03AC-C325-A6AC-463C935EBCF9}"/>
              </a:ext>
            </a:extLst>
          </p:cNvPr>
          <p:cNvSpPr/>
          <p:nvPr/>
        </p:nvSpPr>
        <p:spPr>
          <a:xfrm>
            <a:off x="7690366" y="1374100"/>
            <a:ext cx="392668" cy="392668"/>
          </a:xfrm>
          <a:prstGeom prst="roundRect">
            <a:avLst>
              <a:gd name="adj" fmla="val 18667"/>
            </a:avLst>
          </a:prstGeom>
          <a:solidFill>
            <a:srgbClr val="DADBF1"/>
          </a:solidFill>
          <a:ln w="7620">
            <a:solidFill>
              <a:srgbClr val="C0C1D7"/>
            </a:solidFill>
            <a:prstDash val="solid"/>
          </a:ln>
        </p:spPr>
      </p:sp>
      <p:pic>
        <p:nvPicPr>
          <p:cNvPr id="6" name="Image 0" descr="preencoded.png">
            <a:extLst>
              <a:ext uri="{FF2B5EF4-FFF2-40B4-BE49-F238E27FC236}">
                <a16:creationId xmlns:a16="http://schemas.microsoft.com/office/drawing/2014/main" id="{831A8B5E-C2CC-E6E8-5B57-C484842967D9}"/>
              </a:ext>
            </a:extLst>
          </p:cNvPr>
          <p:cNvPicPr>
            <a:picLocks noChangeAspect="1"/>
          </p:cNvPicPr>
          <p:nvPr/>
        </p:nvPicPr>
        <p:blipFill>
          <a:blip r:embed="rId3"/>
          <a:stretch>
            <a:fillRect/>
          </a:stretch>
        </p:blipFill>
        <p:spPr>
          <a:xfrm>
            <a:off x="7755850" y="1406843"/>
            <a:ext cx="261699" cy="327184"/>
          </a:xfrm>
          <a:prstGeom prst="rect">
            <a:avLst/>
          </a:prstGeom>
        </p:spPr>
      </p:pic>
      <p:sp>
        <p:nvSpPr>
          <p:cNvPr id="7" name="Text 4">
            <a:extLst>
              <a:ext uri="{FF2B5EF4-FFF2-40B4-BE49-F238E27FC236}">
                <a16:creationId xmlns:a16="http://schemas.microsoft.com/office/drawing/2014/main" id="{E3E47B70-B283-A706-2BD8-26B9A535FAB3}"/>
              </a:ext>
            </a:extLst>
          </p:cNvPr>
          <p:cNvSpPr/>
          <p:nvPr/>
        </p:nvSpPr>
        <p:spPr>
          <a:xfrm>
            <a:off x="2587704" y="1433989"/>
            <a:ext cx="4426506" cy="272653"/>
          </a:xfrm>
          <a:prstGeom prst="rect">
            <a:avLst/>
          </a:prstGeom>
          <a:noFill/>
          <a:ln/>
        </p:spPr>
        <p:txBody>
          <a:bodyPr wrap="none" lIns="0" tIns="0" rIns="0" bIns="0" rtlCol="0" anchor="t"/>
          <a:lstStyle/>
          <a:p>
            <a:pPr marL="0" indent="0" algn="r">
              <a:lnSpc>
                <a:spcPts val="2100"/>
              </a:lnSpc>
              <a:buNone/>
            </a:pPr>
            <a:r>
              <a:rPr lang="en-US" sz="1700" b="1" dirty="0">
                <a:solidFill>
                  <a:srgbClr val="272525"/>
                </a:solidFill>
                <a:latin typeface="Inter Bold" pitchFamily="34" charset="0"/>
                <a:ea typeface="Inter Bold" pitchFamily="34" charset="-122"/>
                <a:cs typeface="Inter Bold" pitchFamily="34" charset="-120"/>
              </a:rPr>
              <a:t>Research Types Serve Different Purposes</a:t>
            </a:r>
            <a:endParaRPr lang="en-US" sz="1700" dirty="0"/>
          </a:p>
        </p:txBody>
      </p:sp>
      <p:sp>
        <p:nvSpPr>
          <p:cNvPr id="8" name="Text 5">
            <a:extLst>
              <a:ext uri="{FF2B5EF4-FFF2-40B4-BE49-F238E27FC236}">
                <a16:creationId xmlns:a16="http://schemas.microsoft.com/office/drawing/2014/main" id="{FD6CFCFA-A3F1-B382-C86B-013350DFD5F7}"/>
              </a:ext>
            </a:extLst>
          </p:cNvPr>
          <p:cNvSpPr/>
          <p:nvPr/>
        </p:nvSpPr>
        <p:spPr>
          <a:xfrm>
            <a:off x="1182291" y="1811298"/>
            <a:ext cx="5831919" cy="558403"/>
          </a:xfrm>
          <a:prstGeom prst="rect">
            <a:avLst/>
          </a:prstGeom>
          <a:noFill/>
          <a:ln/>
        </p:spPr>
        <p:txBody>
          <a:bodyPr wrap="square" lIns="0" tIns="0" rIns="0" bIns="0" rtlCol="0" anchor="t"/>
          <a:lstStyle/>
          <a:p>
            <a:pPr marL="0" indent="0" algn="r">
              <a:lnSpc>
                <a:spcPts val="2150"/>
              </a:lnSpc>
              <a:buNone/>
            </a:pPr>
            <a:r>
              <a:rPr lang="en-US" sz="1350" dirty="0">
                <a:solidFill>
                  <a:srgbClr val="272525"/>
                </a:solidFill>
                <a:latin typeface="Inter" pitchFamily="34" charset="0"/>
                <a:ea typeface="Inter" pitchFamily="34" charset="-122"/>
                <a:cs typeface="Inter" pitchFamily="34" charset="-120"/>
              </a:rPr>
              <a:t>Each methodology addresses specific knowledge goals, from theoretical understanding to practical problem-solving</a:t>
            </a:r>
            <a:endParaRPr lang="en-US" sz="1350" dirty="0"/>
          </a:p>
        </p:txBody>
      </p:sp>
      <p:sp>
        <p:nvSpPr>
          <p:cNvPr id="9" name="Shape 6">
            <a:extLst>
              <a:ext uri="{FF2B5EF4-FFF2-40B4-BE49-F238E27FC236}">
                <a16:creationId xmlns:a16="http://schemas.microsoft.com/office/drawing/2014/main" id="{1C60AB64-5141-9401-5B19-985665380CFD}"/>
              </a:ext>
            </a:extLst>
          </p:cNvPr>
          <p:cNvSpPr/>
          <p:nvPr/>
        </p:nvSpPr>
        <p:spPr>
          <a:xfrm>
            <a:off x="8060174" y="2606040"/>
            <a:ext cx="523518" cy="22860"/>
          </a:xfrm>
          <a:prstGeom prst="roundRect">
            <a:avLst>
              <a:gd name="adj" fmla="val 320642"/>
            </a:avLst>
          </a:prstGeom>
          <a:solidFill>
            <a:srgbClr val="C0C1D7"/>
          </a:solidFill>
          <a:ln/>
        </p:spPr>
      </p:sp>
      <p:sp>
        <p:nvSpPr>
          <p:cNvPr id="10" name="Shape 7">
            <a:extLst>
              <a:ext uri="{FF2B5EF4-FFF2-40B4-BE49-F238E27FC236}">
                <a16:creationId xmlns:a16="http://schemas.microsoft.com/office/drawing/2014/main" id="{1B960CC9-6E80-3522-5CE1-19141C019D89}"/>
              </a:ext>
            </a:extLst>
          </p:cNvPr>
          <p:cNvSpPr/>
          <p:nvPr/>
        </p:nvSpPr>
        <p:spPr>
          <a:xfrm>
            <a:off x="7690366" y="2421136"/>
            <a:ext cx="392668" cy="392668"/>
          </a:xfrm>
          <a:prstGeom prst="roundRect">
            <a:avLst>
              <a:gd name="adj" fmla="val 18667"/>
            </a:avLst>
          </a:prstGeom>
          <a:solidFill>
            <a:srgbClr val="DADBF1"/>
          </a:solidFill>
          <a:ln w="7620">
            <a:solidFill>
              <a:srgbClr val="C0C1D7"/>
            </a:solidFill>
            <a:prstDash val="solid"/>
          </a:ln>
        </p:spPr>
      </p:sp>
      <p:pic>
        <p:nvPicPr>
          <p:cNvPr id="11" name="Image 1" descr="preencoded.png">
            <a:extLst>
              <a:ext uri="{FF2B5EF4-FFF2-40B4-BE49-F238E27FC236}">
                <a16:creationId xmlns:a16="http://schemas.microsoft.com/office/drawing/2014/main" id="{3204C474-B54D-0CE2-0E60-4B590EC0605E}"/>
              </a:ext>
            </a:extLst>
          </p:cNvPr>
          <p:cNvPicPr>
            <a:picLocks noChangeAspect="1"/>
          </p:cNvPicPr>
          <p:nvPr/>
        </p:nvPicPr>
        <p:blipFill>
          <a:blip r:embed="rId4"/>
          <a:stretch>
            <a:fillRect/>
          </a:stretch>
        </p:blipFill>
        <p:spPr>
          <a:xfrm>
            <a:off x="7755850" y="2453878"/>
            <a:ext cx="261699" cy="327184"/>
          </a:xfrm>
          <a:prstGeom prst="rect">
            <a:avLst/>
          </a:prstGeom>
        </p:spPr>
      </p:pic>
      <p:sp>
        <p:nvSpPr>
          <p:cNvPr id="12" name="Text 8">
            <a:extLst>
              <a:ext uri="{FF2B5EF4-FFF2-40B4-BE49-F238E27FC236}">
                <a16:creationId xmlns:a16="http://schemas.microsoft.com/office/drawing/2014/main" id="{9A5BC582-944F-7F08-2175-A4EE09F3650B}"/>
              </a:ext>
            </a:extLst>
          </p:cNvPr>
          <p:cNvSpPr/>
          <p:nvPr/>
        </p:nvSpPr>
        <p:spPr>
          <a:xfrm>
            <a:off x="8759190" y="2481024"/>
            <a:ext cx="4881682" cy="272653"/>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Methodologies Often Complement Each Other</a:t>
            </a:r>
            <a:endParaRPr lang="en-US" sz="1700" dirty="0"/>
          </a:p>
        </p:txBody>
      </p:sp>
      <p:sp>
        <p:nvSpPr>
          <p:cNvPr id="13" name="Text 9">
            <a:extLst>
              <a:ext uri="{FF2B5EF4-FFF2-40B4-BE49-F238E27FC236}">
                <a16:creationId xmlns:a16="http://schemas.microsoft.com/office/drawing/2014/main" id="{88DE09E0-CC56-9E06-9783-82EB398DBFC7}"/>
              </a:ext>
            </a:extLst>
          </p:cNvPr>
          <p:cNvSpPr/>
          <p:nvPr/>
        </p:nvSpPr>
        <p:spPr>
          <a:xfrm>
            <a:off x="8759190" y="2858333"/>
            <a:ext cx="5831919" cy="558403"/>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Complex research questions frequently require multiple approaches used in sequence or combination</a:t>
            </a:r>
            <a:endParaRPr lang="en-US" sz="1350" dirty="0"/>
          </a:p>
        </p:txBody>
      </p:sp>
      <p:sp>
        <p:nvSpPr>
          <p:cNvPr id="14" name="Shape 10">
            <a:extLst>
              <a:ext uri="{FF2B5EF4-FFF2-40B4-BE49-F238E27FC236}">
                <a16:creationId xmlns:a16="http://schemas.microsoft.com/office/drawing/2014/main" id="{1D65D52E-A70A-17D6-B27D-C251BC908CB5}"/>
              </a:ext>
            </a:extLst>
          </p:cNvPr>
          <p:cNvSpPr/>
          <p:nvPr/>
        </p:nvSpPr>
        <p:spPr>
          <a:xfrm>
            <a:off x="7189708" y="3508534"/>
            <a:ext cx="523518" cy="22860"/>
          </a:xfrm>
          <a:prstGeom prst="roundRect">
            <a:avLst>
              <a:gd name="adj" fmla="val 320642"/>
            </a:avLst>
          </a:prstGeom>
          <a:solidFill>
            <a:srgbClr val="C0C1D7"/>
          </a:solidFill>
          <a:ln/>
        </p:spPr>
      </p:sp>
      <p:sp>
        <p:nvSpPr>
          <p:cNvPr id="15" name="Shape 11">
            <a:extLst>
              <a:ext uri="{FF2B5EF4-FFF2-40B4-BE49-F238E27FC236}">
                <a16:creationId xmlns:a16="http://schemas.microsoft.com/office/drawing/2014/main" id="{7B52D81C-426F-095B-5860-71D35357835D}"/>
              </a:ext>
            </a:extLst>
          </p:cNvPr>
          <p:cNvSpPr/>
          <p:nvPr/>
        </p:nvSpPr>
        <p:spPr>
          <a:xfrm>
            <a:off x="7690366" y="3323630"/>
            <a:ext cx="392668" cy="392668"/>
          </a:xfrm>
          <a:prstGeom prst="roundRect">
            <a:avLst>
              <a:gd name="adj" fmla="val 18667"/>
            </a:avLst>
          </a:prstGeom>
          <a:solidFill>
            <a:srgbClr val="DADBF1"/>
          </a:solidFill>
          <a:ln w="7620">
            <a:solidFill>
              <a:srgbClr val="C0C1D7"/>
            </a:solidFill>
            <a:prstDash val="solid"/>
          </a:ln>
        </p:spPr>
      </p:sp>
      <p:pic>
        <p:nvPicPr>
          <p:cNvPr id="16" name="Image 2" descr="preencoded.png">
            <a:extLst>
              <a:ext uri="{FF2B5EF4-FFF2-40B4-BE49-F238E27FC236}">
                <a16:creationId xmlns:a16="http://schemas.microsoft.com/office/drawing/2014/main" id="{E27CE192-EAA0-8E6D-B87A-9A267AE2CB60}"/>
              </a:ext>
            </a:extLst>
          </p:cNvPr>
          <p:cNvPicPr>
            <a:picLocks noChangeAspect="1"/>
          </p:cNvPicPr>
          <p:nvPr/>
        </p:nvPicPr>
        <p:blipFill>
          <a:blip r:embed="rId5"/>
          <a:stretch>
            <a:fillRect/>
          </a:stretch>
        </p:blipFill>
        <p:spPr>
          <a:xfrm>
            <a:off x="7755850" y="3356372"/>
            <a:ext cx="261699" cy="327184"/>
          </a:xfrm>
          <a:prstGeom prst="rect">
            <a:avLst/>
          </a:prstGeom>
        </p:spPr>
      </p:pic>
      <p:sp>
        <p:nvSpPr>
          <p:cNvPr id="17" name="Text 12">
            <a:extLst>
              <a:ext uri="{FF2B5EF4-FFF2-40B4-BE49-F238E27FC236}">
                <a16:creationId xmlns:a16="http://schemas.microsoft.com/office/drawing/2014/main" id="{986283A3-CF50-1245-0E8A-4722E442518A}"/>
              </a:ext>
            </a:extLst>
          </p:cNvPr>
          <p:cNvSpPr/>
          <p:nvPr/>
        </p:nvSpPr>
        <p:spPr>
          <a:xfrm>
            <a:off x="2896672" y="3383518"/>
            <a:ext cx="4117538" cy="272653"/>
          </a:xfrm>
          <a:prstGeom prst="rect">
            <a:avLst/>
          </a:prstGeom>
          <a:noFill/>
          <a:ln/>
        </p:spPr>
        <p:txBody>
          <a:bodyPr wrap="none" lIns="0" tIns="0" rIns="0" bIns="0" rtlCol="0" anchor="t"/>
          <a:lstStyle/>
          <a:p>
            <a:pPr marL="0" indent="0" algn="r">
              <a:lnSpc>
                <a:spcPts val="2100"/>
              </a:lnSpc>
              <a:buNone/>
            </a:pPr>
            <a:r>
              <a:rPr lang="en-US" sz="1700" b="1" dirty="0">
                <a:solidFill>
                  <a:srgbClr val="272525"/>
                </a:solidFill>
                <a:latin typeface="Inter Bold" pitchFamily="34" charset="0"/>
                <a:ea typeface="Inter Bold" pitchFamily="34" charset="-122"/>
                <a:cs typeface="Inter Bold" pitchFamily="34" charset="-120"/>
              </a:rPr>
              <a:t>Match Methods to Research Questions</a:t>
            </a:r>
            <a:endParaRPr lang="en-US" sz="1700" dirty="0"/>
          </a:p>
        </p:txBody>
      </p:sp>
      <p:sp>
        <p:nvSpPr>
          <p:cNvPr id="18" name="Text 13">
            <a:extLst>
              <a:ext uri="{FF2B5EF4-FFF2-40B4-BE49-F238E27FC236}">
                <a16:creationId xmlns:a16="http://schemas.microsoft.com/office/drawing/2014/main" id="{18AEAF91-A566-BF82-D434-080C8887C1A8}"/>
              </a:ext>
            </a:extLst>
          </p:cNvPr>
          <p:cNvSpPr/>
          <p:nvPr/>
        </p:nvSpPr>
        <p:spPr>
          <a:xfrm>
            <a:off x="1182291" y="3760827"/>
            <a:ext cx="5831919" cy="558403"/>
          </a:xfrm>
          <a:prstGeom prst="rect">
            <a:avLst/>
          </a:prstGeom>
          <a:noFill/>
          <a:ln/>
        </p:spPr>
        <p:txBody>
          <a:bodyPr wrap="square" lIns="0" tIns="0" rIns="0" bIns="0" rtlCol="0" anchor="t"/>
          <a:lstStyle/>
          <a:p>
            <a:pPr marL="0" indent="0" algn="r">
              <a:lnSpc>
                <a:spcPts val="2150"/>
              </a:lnSpc>
              <a:buNone/>
            </a:pPr>
            <a:r>
              <a:rPr lang="en-US" sz="1350" dirty="0">
                <a:solidFill>
                  <a:srgbClr val="272525"/>
                </a:solidFill>
                <a:latin typeface="Inter" pitchFamily="34" charset="0"/>
                <a:ea typeface="Inter" pitchFamily="34" charset="-122"/>
                <a:cs typeface="Inter" pitchFamily="34" charset="-120"/>
              </a:rPr>
              <a:t>Effective research design aligns methodological choices with specific inquiry objectives</a:t>
            </a:r>
            <a:endParaRPr lang="en-US" sz="1350" dirty="0"/>
          </a:p>
        </p:txBody>
      </p:sp>
      <p:sp>
        <p:nvSpPr>
          <p:cNvPr id="19" name="Shape 14">
            <a:extLst>
              <a:ext uri="{FF2B5EF4-FFF2-40B4-BE49-F238E27FC236}">
                <a16:creationId xmlns:a16="http://schemas.microsoft.com/office/drawing/2014/main" id="{04A1FA72-3741-66D4-EDBD-0939B71710BB}"/>
              </a:ext>
            </a:extLst>
          </p:cNvPr>
          <p:cNvSpPr/>
          <p:nvPr/>
        </p:nvSpPr>
        <p:spPr>
          <a:xfrm>
            <a:off x="8060174" y="4411028"/>
            <a:ext cx="523518" cy="22860"/>
          </a:xfrm>
          <a:prstGeom prst="roundRect">
            <a:avLst>
              <a:gd name="adj" fmla="val 320642"/>
            </a:avLst>
          </a:prstGeom>
          <a:solidFill>
            <a:srgbClr val="C0C1D7"/>
          </a:solidFill>
          <a:ln/>
        </p:spPr>
      </p:sp>
      <p:sp>
        <p:nvSpPr>
          <p:cNvPr id="20" name="Shape 15">
            <a:extLst>
              <a:ext uri="{FF2B5EF4-FFF2-40B4-BE49-F238E27FC236}">
                <a16:creationId xmlns:a16="http://schemas.microsoft.com/office/drawing/2014/main" id="{6B3F7989-8A28-7975-5AE4-A72F3EC8E8EF}"/>
              </a:ext>
            </a:extLst>
          </p:cNvPr>
          <p:cNvSpPr/>
          <p:nvPr/>
        </p:nvSpPr>
        <p:spPr>
          <a:xfrm>
            <a:off x="7690366" y="4226123"/>
            <a:ext cx="392668" cy="392668"/>
          </a:xfrm>
          <a:prstGeom prst="roundRect">
            <a:avLst>
              <a:gd name="adj" fmla="val 18667"/>
            </a:avLst>
          </a:prstGeom>
          <a:solidFill>
            <a:srgbClr val="DADBF1"/>
          </a:solidFill>
          <a:ln w="7620">
            <a:solidFill>
              <a:srgbClr val="C0C1D7"/>
            </a:solidFill>
            <a:prstDash val="solid"/>
          </a:ln>
        </p:spPr>
      </p:sp>
      <p:pic>
        <p:nvPicPr>
          <p:cNvPr id="21" name="Image 3" descr="preencoded.png">
            <a:extLst>
              <a:ext uri="{FF2B5EF4-FFF2-40B4-BE49-F238E27FC236}">
                <a16:creationId xmlns:a16="http://schemas.microsoft.com/office/drawing/2014/main" id="{9E0A2AC3-A0E2-4DEC-BF57-3F1A067D7419}"/>
              </a:ext>
            </a:extLst>
          </p:cNvPr>
          <p:cNvPicPr>
            <a:picLocks noChangeAspect="1"/>
          </p:cNvPicPr>
          <p:nvPr/>
        </p:nvPicPr>
        <p:blipFill>
          <a:blip r:embed="rId6"/>
          <a:stretch>
            <a:fillRect/>
          </a:stretch>
        </p:blipFill>
        <p:spPr>
          <a:xfrm>
            <a:off x="7755850" y="4258866"/>
            <a:ext cx="261699" cy="327184"/>
          </a:xfrm>
          <a:prstGeom prst="rect">
            <a:avLst/>
          </a:prstGeom>
        </p:spPr>
      </p:pic>
      <p:sp>
        <p:nvSpPr>
          <p:cNvPr id="22" name="Text 16">
            <a:extLst>
              <a:ext uri="{FF2B5EF4-FFF2-40B4-BE49-F238E27FC236}">
                <a16:creationId xmlns:a16="http://schemas.microsoft.com/office/drawing/2014/main" id="{6155BD3C-CB3B-4381-1228-93BD2EDF7FDD}"/>
              </a:ext>
            </a:extLst>
          </p:cNvPr>
          <p:cNvSpPr/>
          <p:nvPr/>
        </p:nvSpPr>
        <p:spPr>
          <a:xfrm>
            <a:off x="8759190" y="4286012"/>
            <a:ext cx="3248144" cy="272653"/>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Consider Practical Constraints</a:t>
            </a:r>
            <a:endParaRPr lang="en-US" sz="1700" dirty="0"/>
          </a:p>
        </p:txBody>
      </p:sp>
      <p:sp>
        <p:nvSpPr>
          <p:cNvPr id="23" name="Text 17">
            <a:extLst>
              <a:ext uri="{FF2B5EF4-FFF2-40B4-BE49-F238E27FC236}">
                <a16:creationId xmlns:a16="http://schemas.microsoft.com/office/drawing/2014/main" id="{E1897AEF-C3B7-85A6-9B7C-EC7D34A5D48E}"/>
              </a:ext>
            </a:extLst>
          </p:cNvPr>
          <p:cNvSpPr/>
          <p:nvPr/>
        </p:nvSpPr>
        <p:spPr>
          <a:xfrm>
            <a:off x="8759190" y="4663321"/>
            <a:ext cx="5831919" cy="558403"/>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Time, resources, ethics, and feasibility influence methodological decisions</a:t>
            </a:r>
            <a:endParaRPr lang="en-US" sz="1350" dirty="0"/>
          </a:p>
        </p:txBody>
      </p:sp>
      <p:sp>
        <p:nvSpPr>
          <p:cNvPr id="24" name="Text 18">
            <a:extLst>
              <a:ext uri="{FF2B5EF4-FFF2-40B4-BE49-F238E27FC236}">
                <a16:creationId xmlns:a16="http://schemas.microsoft.com/office/drawing/2014/main" id="{9918FDA2-770F-B859-5E9D-64412600D133}"/>
              </a:ext>
            </a:extLst>
          </p:cNvPr>
          <p:cNvSpPr/>
          <p:nvPr/>
        </p:nvSpPr>
        <p:spPr>
          <a:xfrm>
            <a:off x="1182291" y="5878473"/>
            <a:ext cx="13408819" cy="837605"/>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Throughout this presentation, we've explored the diverse landscape of research methodologies, each with distinct purposes, approaches, and strengths. Basic research builds theoretical foundations, while applied research tackles practical problems. Exploratory studies venture into unknown territories, descriptive research documents existing phenomena, and experimental designs establish causal relationships.</a:t>
            </a:r>
            <a:endParaRPr lang="en-US" sz="1350" dirty="0"/>
          </a:p>
        </p:txBody>
      </p:sp>
      <p:sp>
        <p:nvSpPr>
          <p:cNvPr id="25" name="Text 19">
            <a:extLst>
              <a:ext uri="{FF2B5EF4-FFF2-40B4-BE49-F238E27FC236}">
                <a16:creationId xmlns:a16="http://schemas.microsoft.com/office/drawing/2014/main" id="{590B0207-03E2-0306-ACB2-BC0F273881A5}"/>
              </a:ext>
            </a:extLst>
          </p:cNvPr>
          <p:cNvSpPr/>
          <p:nvPr/>
        </p:nvSpPr>
        <p:spPr>
          <a:xfrm>
            <a:off x="1182291" y="6912412"/>
            <a:ext cx="13408819" cy="837605"/>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Selecting appropriate methodologies requires careful consideration of research questions, available resources, ethical constraints, and disciplinary traditions. The most effective researchers develop proficiency across multiple approaches, recognizing that methodological flexibility enhances their ability to address complex questions and contribute meaningful knowledge to their fields.</a:t>
            </a:r>
            <a:endParaRPr lang="en-US" sz="1350" dirty="0"/>
          </a:p>
        </p:txBody>
      </p:sp>
    </p:spTree>
    <p:extLst>
      <p:ext uri="{BB962C8B-B14F-4D97-AF65-F5344CB8AC3E}">
        <p14:creationId xmlns:p14="http://schemas.microsoft.com/office/powerpoint/2010/main" val="3563313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1197031" y="349075"/>
            <a:ext cx="13243362" cy="71136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146280" tIns="146280" rIns="146280" bIns="146280" anchor="ctr" anchorCtr="0">
              <a:noAutofit/>
            </a:bodyPr>
            <a:lstStyle/>
            <a:p>
              <a:endParaRPr sz="3584">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115800" tIns="115800" rIns="115800" bIns="115800" anchor="ctr" anchorCtr="0">
              <a:noAutofit/>
            </a:bodyPr>
            <a:lstStyle/>
            <a:p>
              <a:pPr algn="ctr">
                <a:lnSpc>
                  <a:spcPct val="90000"/>
                </a:lnSpc>
                <a:buSzPts val="1900"/>
              </a:pPr>
              <a:endParaRPr lang="en-US" sz="64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7" name="TextBox 6"/>
          <p:cNvSpPr txBox="1"/>
          <p:nvPr/>
        </p:nvSpPr>
        <p:spPr>
          <a:xfrm>
            <a:off x="13775238" y="137580"/>
            <a:ext cx="344966" cy="437043"/>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240" dirty="0"/>
              <a:t>9</a:t>
            </a:r>
          </a:p>
        </p:txBody>
      </p:sp>
      <p:sp>
        <p:nvSpPr>
          <p:cNvPr id="2" name="Text 0">
            <a:extLst>
              <a:ext uri="{FF2B5EF4-FFF2-40B4-BE49-F238E27FC236}">
                <a16:creationId xmlns:a16="http://schemas.microsoft.com/office/drawing/2014/main" id="{89685064-EE39-F68F-8DCC-D7A600969C86}"/>
              </a:ext>
            </a:extLst>
          </p:cNvPr>
          <p:cNvSpPr/>
          <p:nvPr/>
        </p:nvSpPr>
        <p:spPr>
          <a:xfrm>
            <a:off x="5919797" y="574623"/>
            <a:ext cx="2790805" cy="641907"/>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References</a:t>
            </a:r>
          </a:p>
        </p:txBody>
      </p:sp>
      <p:sp>
        <p:nvSpPr>
          <p:cNvPr id="8" name="TextBox 7">
            <a:extLst>
              <a:ext uri="{FF2B5EF4-FFF2-40B4-BE49-F238E27FC236}">
                <a16:creationId xmlns:a16="http://schemas.microsoft.com/office/drawing/2014/main" id="{CFEE67C4-C3A4-DBA3-D777-54F911FCA384}"/>
              </a:ext>
            </a:extLst>
          </p:cNvPr>
          <p:cNvSpPr txBox="1"/>
          <p:nvPr/>
        </p:nvSpPr>
        <p:spPr>
          <a:xfrm>
            <a:off x="693518" y="2422029"/>
            <a:ext cx="13243362" cy="3385542"/>
          </a:xfrm>
          <a:prstGeom prst="rect">
            <a:avLst/>
          </a:prstGeom>
          <a:noFill/>
        </p:spPr>
        <p:txBody>
          <a:bodyPr wrap="square">
            <a:spAutoFit/>
          </a:bodyPr>
          <a:lstStyle/>
          <a:p>
            <a:pPr algn="just" rtl="0">
              <a:spcBef>
                <a:spcPts val="1200"/>
              </a:spcBef>
              <a:spcAft>
                <a:spcPts val="1200"/>
              </a:spcAft>
            </a:pPr>
            <a:r>
              <a:rPr lang="en-IN" sz="2400" b="1" i="0" u="none" strike="noStrike" dirty="0">
                <a:solidFill>
                  <a:srgbClr val="231F20"/>
                </a:solidFill>
                <a:effectLst/>
                <a:latin typeface="Times New Roman" panose="02020603050405020304" pitchFamily="18" charset="0"/>
              </a:rPr>
              <a:t>Reference Book: </a:t>
            </a:r>
            <a:endParaRPr lang="en-IN" b="1" i="0" u="none" strike="noStrike" dirty="0">
              <a:solidFill>
                <a:srgbClr val="000000"/>
              </a:solidFill>
              <a:effectLst/>
            </a:endParaRPr>
          </a:p>
          <a:p>
            <a:pPr algn="just" rtl="0">
              <a:spcBef>
                <a:spcPts val="1200"/>
              </a:spcBef>
              <a:spcAft>
                <a:spcPts val="1200"/>
              </a:spcAft>
            </a:pPr>
            <a:r>
              <a:rPr lang="en-IN" sz="2400" b="0" i="1" u="none" strike="noStrike" dirty="0">
                <a:solidFill>
                  <a:srgbClr val="231F20"/>
                </a:solidFill>
                <a:effectLst/>
                <a:latin typeface="Times New Roman" panose="02020603050405020304" pitchFamily="18" charset="0"/>
              </a:rPr>
              <a:t>Research Methodology: Methods and Techniques</a:t>
            </a:r>
            <a:r>
              <a:rPr lang="en-IN" sz="2400" b="0" i="0" u="none" strike="noStrike" dirty="0">
                <a:solidFill>
                  <a:srgbClr val="231F20"/>
                </a:solidFill>
                <a:effectLst/>
                <a:latin typeface="Times New Roman" panose="02020603050405020304" pitchFamily="18" charset="0"/>
              </a:rPr>
              <a:t> by C.R. Kothari (New Age International Publishers).</a:t>
            </a:r>
            <a:endParaRPr lang="en-IN" b="0" i="0" u="none" strike="noStrike" dirty="0">
              <a:solidFill>
                <a:srgbClr val="000000"/>
              </a:solidFill>
              <a:effectLst/>
            </a:endParaRPr>
          </a:p>
          <a:p>
            <a:pPr algn="just" rtl="0">
              <a:spcBef>
                <a:spcPts val="1200"/>
              </a:spcBef>
              <a:spcAft>
                <a:spcPts val="1200"/>
              </a:spcAft>
            </a:pPr>
            <a:r>
              <a:rPr lang="en-IN" sz="2400" b="1" i="0" u="none" strike="noStrike" dirty="0">
                <a:solidFill>
                  <a:srgbClr val="231F20"/>
                </a:solidFill>
                <a:effectLst/>
                <a:latin typeface="Times New Roman" panose="02020603050405020304" pitchFamily="18" charset="0"/>
              </a:rPr>
              <a:t>Text Books: </a:t>
            </a:r>
            <a:endParaRPr lang="en-IN" b="1" i="0" u="none" strike="noStrike" dirty="0">
              <a:solidFill>
                <a:srgbClr val="000000"/>
              </a:solidFill>
              <a:effectLst/>
            </a:endParaRPr>
          </a:p>
          <a:p>
            <a:pPr algn="just" rtl="0">
              <a:spcBef>
                <a:spcPts val="1200"/>
              </a:spcBef>
              <a:spcAft>
                <a:spcPts val="1200"/>
              </a:spcAft>
            </a:pPr>
            <a:r>
              <a:rPr lang="en-IN" sz="2400" b="0" i="1" u="none" strike="noStrike" dirty="0">
                <a:solidFill>
                  <a:srgbClr val="231F20"/>
                </a:solidFill>
                <a:effectLst/>
                <a:latin typeface="Times New Roman" panose="02020603050405020304" pitchFamily="18" charset="0"/>
              </a:rPr>
              <a:t>Research Methodology: Principles, Methods and Practices</a:t>
            </a:r>
            <a:r>
              <a:rPr lang="en-IN" sz="2400" b="0" i="0" u="none" strike="noStrike" dirty="0">
                <a:solidFill>
                  <a:srgbClr val="231F20"/>
                </a:solidFill>
                <a:effectLst/>
                <a:latin typeface="Times New Roman" panose="02020603050405020304" pitchFamily="18" charset="0"/>
              </a:rPr>
              <a:t> by Ranjith Kumar (University of South Florida Scholar Commons)</a:t>
            </a:r>
            <a:endParaRPr lang="en-IN" b="0" i="0" u="none" strike="noStrike" dirty="0">
              <a:solidFill>
                <a:srgbClr val="000000"/>
              </a:solidFill>
              <a:effectLst/>
            </a:endParaRPr>
          </a:p>
          <a:p>
            <a:r>
              <a:rPr lang="en-IN" sz="2400" b="0" i="1" u="none" strike="noStrike" dirty="0">
                <a:solidFill>
                  <a:srgbClr val="231F20"/>
                </a:solidFill>
                <a:effectLst/>
                <a:latin typeface="Times New Roman" panose="02020603050405020304" pitchFamily="18" charset="0"/>
              </a:rPr>
              <a:t>Research Methodology: A Step-by-Step Guide for Beginners</a:t>
            </a:r>
            <a:r>
              <a:rPr lang="en-IN" sz="2400" b="0" i="0" u="none" strike="noStrike" dirty="0">
                <a:solidFill>
                  <a:srgbClr val="231F20"/>
                </a:solidFill>
                <a:effectLst/>
                <a:latin typeface="Times New Roman" panose="02020603050405020304" pitchFamily="18" charset="0"/>
              </a:rPr>
              <a:t> by Ranjit Kumar (SAGE Publications)</a:t>
            </a:r>
            <a:endParaRPr lang="en-US" dirty="0"/>
          </a:p>
        </p:txBody>
      </p:sp>
    </p:spTree>
    <p:extLst>
      <p:ext uri="{BB962C8B-B14F-4D97-AF65-F5344CB8AC3E}">
        <p14:creationId xmlns:p14="http://schemas.microsoft.com/office/powerpoint/2010/main" val="2264009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1FE09F1-F395-2274-0935-1848D4DC54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C6DD3F0-EC87-EE58-1BF8-60D6A60A7E33}"/>
              </a:ext>
            </a:extLst>
          </p:cNvPr>
          <p:cNvSpPr/>
          <p:nvPr/>
        </p:nvSpPr>
        <p:spPr>
          <a:xfrm>
            <a:off x="1211937" y="592931"/>
            <a:ext cx="5391150" cy="673894"/>
          </a:xfrm>
          <a:prstGeom prst="rect">
            <a:avLst/>
          </a:prstGeom>
          <a:noFill/>
          <a:ln/>
        </p:spPr>
        <p:txBody>
          <a:bodyPr wrap="none" lIns="0" tIns="0" rIns="0" bIns="0" rtlCol="0" anchor="t"/>
          <a:lstStyle/>
          <a:p>
            <a:pPr marL="0" indent="0" algn="l">
              <a:lnSpc>
                <a:spcPts val="5300"/>
              </a:lnSpc>
              <a:buNone/>
            </a:pPr>
            <a:r>
              <a:rPr lang="en-US" sz="4200" b="1" dirty="0">
                <a:solidFill>
                  <a:srgbClr val="000000"/>
                </a:solidFill>
                <a:latin typeface="Inter Bold" pitchFamily="34" charset="0"/>
                <a:ea typeface="Inter Bold" pitchFamily="34" charset="-122"/>
                <a:cs typeface="Inter Bold" pitchFamily="34" charset="-120"/>
              </a:rPr>
              <a:t>Learning Resources</a:t>
            </a:r>
            <a:endParaRPr lang="en-US" sz="4200" dirty="0"/>
          </a:p>
        </p:txBody>
      </p:sp>
      <p:sp>
        <p:nvSpPr>
          <p:cNvPr id="4" name="Text 1">
            <a:extLst>
              <a:ext uri="{FF2B5EF4-FFF2-40B4-BE49-F238E27FC236}">
                <a16:creationId xmlns:a16="http://schemas.microsoft.com/office/drawing/2014/main" id="{4D20DA25-17BC-7651-E75C-10BEB0314437}"/>
              </a:ext>
            </a:extLst>
          </p:cNvPr>
          <p:cNvSpPr/>
          <p:nvPr/>
        </p:nvSpPr>
        <p:spPr>
          <a:xfrm>
            <a:off x="1211937" y="4559618"/>
            <a:ext cx="2695575" cy="336947"/>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Video Tutorial</a:t>
            </a:r>
            <a:endParaRPr lang="en-US" sz="2100" dirty="0"/>
          </a:p>
        </p:txBody>
      </p:sp>
      <p:sp>
        <p:nvSpPr>
          <p:cNvPr id="5" name="Text 2">
            <a:extLst>
              <a:ext uri="{FF2B5EF4-FFF2-40B4-BE49-F238E27FC236}">
                <a16:creationId xmlns:a16="http://schemas.microsoft.com/office/drawing/2014/main" id="{60DA2FD7-AB89-DE39-08AF-E78720C094ED}"/>
              </a:ext>
            </a:extLst>
          </p:cNvPr>
          <p:cNvSpPr/>
          <p:nvPr/>
        </p:nvSpPr>
        <p:spPr>
          <a:xfrm>
            <a:off x="1211937" y="5025866"/>
            <a:ext cx="4193857" cy="2414468"/>
          </a:xfrm>
          <a:prstGeom prst="rect">
            <a:avLst/>
          </a:prstGeom>
          <a:noFill/>
          <a:ln/>
        </p:spPr>
        <p:txBody>
          <a:bodyPr wrap="square" lIns="0" tIns="0" rIns="0" bIns="0" rtlCol="0" anchor="t"/>
          <a:lstStyle/>
          <a:p>
            <a:pPr marL="0" indent="0" algn="l">
              <a:lnSpc>
                <a:spcPts val="2700"/>
              </a:lnSpc>
              <a:buNone/>
            </a:pPr>
            <a:r>
              <a:rPr lang="en-IN" sz="1800" b="0" i="0" u="sng" strike="noStrike" dirty="0">
                <a:solidFill>
                  <a:srgbClr val="1155CC"/>
                </a:solidFill>
                <a:effectLst/>
                <a:latin typeface="Times New Roman" panose="02020603050405020304" pitchFamily="18" charset="0"/>
                <a:hlinkClick r:id="rId3"/>
              </a:rPr>
              <a:t>https://www.youtube.com/watch?v=lMx_mIS4gE4&amp;list=PLLy_2iUCG87Dj8UwNHjudl9thOQizp2Y3&amp;index=3&amp;t=7s</a:t>
            </a:r>
            <a:endParaRPr lang="en-US" sz="1650" dirty="0"/>
          </a:p>
        </p:txBody>
      </p:sp>
      <p:sp>
        <p:nvSpPr>
          <p:cNvPr id="7" name="Text 3">
            <a:extLst>
              <a:ext uri="{FF2B5EF4-FFF2-40B4-BE49-F238E27FC236}">
                <a16:creationId xmlns:a16="http://schemas.microsoft.com/office/drawing/2014/main" id="{C502B76B-AECA-EF3F-AEE9-8424C54DE8F3}"/>
              </a:ext>
            </a:extLst>
          </p:cNvPr>
          <p:cNvSpPr/>
          <p:nvPr/>
        </p:nvSpPr>
        <p:spPr>
          <a:xfrm>
            <a:off x="8736052" y="4559618"/>
            <a:ext cx="2695575" cy="336947"/>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Online Course</a:t>
            </a:r>
            <a:endParaRPr lang="en-US" sz="2100" dirty="0"/>
          </a:p>
        </p:txBody>
      </p:sp>
      <p:sp>
        <p:nvSpPr>
          <p:cNvPr id="8" name="Text 4">
            <a:extLst>
              <a:ext uri="{FF2B5EF4-FFF2-40B4-BE49-F238E27FC236}">
                <a16:creationId xmlns:a16="http://schemas.microsoft.com/office/drawing/2014/main" id="{70662813-C3FA-5498-32A5-DD9B1C0E1C60}"/>
              </a:ext>
            </a:extLst>
          </p:cNvPr>
          <p:cNvSpPr/>
          <p:nvPr/>
        </p:nvSpPr>
        <p:spPr>
          <a:xfrm>
            <a:off x="8736052" y="5025866"/>
            <a:ext cx="4193977" cy="2414468"/>
          </a:xfrm>
          <a:prstGeom prst="rect">
            <a:avLst/>
          </a:prstGeom>
          <a:noFill/>
          <a:ln/>
        </p:spPr>
        <p:txBody>
          <a:bodyPr wrap="square" lIns="0" tIns="0" rIns="0" bIns="0" rtlCol="0" anchor="t"/>
          <a:lstStyle/>
          <a:p>
            <a:pPr marL="0" indent="0" algn="l">
              <a:lnSpc>
                <a:spcPts val="2700"/>
              </a:lnSpc>
              <a:buNone/>
            </a:pPr>
            <a:r>
              <a:rPr lang="en-US" sz="1650" dirty="0">
                <a:hlinkClick r:id="rId4"/>
              </a:rPr>
              <a:t>https://www.coursera.org/programs/chandigarh-university-faculty-learning-program-2pip1/learn/research-methods?source=search</a:t>
            </a:r>
            <a:endParaRPr lang="en-US" sz="1650" dirty="0"/>
          </a:p>
          <a:p>
            <a:pPr marL="0" indent="0" algn="l">
              <a:lnSpc>
                <a:spcPts val="2700"/>
              </a:lnSpc>
              <a:buNone/>
            </a:pPr>
            <a:endParaRPr lang="en-US" sz="1650" dirty="0"/>
          </a:p>
        </p:txBody>
      </p:sp>
      <p:pic>
        <p:nvPicPr>
          <p:cNvPr id="1028" name="Picture 4" descr="YouTube Logo PNG 2025 - Fresh Look and Design">
            <a:extLst>
              <a:ext uri="{FF2B5EF4-FFF2-40B4-BE49-F238E27FC236}">
                <a16:creationId xmlns:a16="http://schemas.microsoft.com/office/drawing/2014/main" id="{D59BD759-47AA-CE30-31D0-8E793618CE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947" y="2701402"/>
            <a:ext cx="2055753" cy="1413398"/>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a:extLst>
              <a:ext uri="{FF2B5EF4-FFF2-40B4-BE49-F238E27FC236}">
                <a16:creationId xmlns:a16="http://schemas.microsoft.com/office/drawing/2014/main" id="{F14803D1-41DB-8186-944F-34130A58D88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85100" y="2239701"/>
            <a:ext cx="3505200" cy="2336800"/>
          </a:xfrm>
          <a:prstGeom prst="rect">
            <a:avLst/>
          </a:prstGeom>
        </p:spPr>
      </p:pic>
    </p:spTree>
    <p:extLst>
      <p:ext uri="{BB962C8B-B14F-4D97-AF65-F5344CB8AC3E}">
        <p14:creationId xmlns:p14="http://schemas.microsoft.com/office/powerpoint/2010/main" val="1158031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616800" y="2275240"/>
            <a:ext cx="12801600" cy="4663680"/>
          </a:xfrm>
          <a:prstGeom prst="rect">
            <a:avLst/>
          </a:prstGeom>
          <a:noFill/>
          <a:ln>
            <a:noFill/>
          </a:ln>
        </p:spPr>
        <p:txBody>
          <a:bodyPr spcFirstLastPara="1" wrap="square" lIns="146280" tIns="73120" rIns="146280" bIns="73120" anchor="t" anchorCtr="0">
            <a:normAutofit/>
          </a:bodyPr>
          <a:lstStyle/>
          <a:p>
            <a:pPr marL="548640" indent="-548640" algn="just">
              <a:lnSpc>
                <a:spcPct val="100000"/>
              </a:lnSpc>
              <a:spcBef>
                <a:spcPts val="0"/>
              </a:spcBef>
              <a:buNone/>
            </a:pPr>
            <a:r>
              <a:rPr lang="en-US" dirty="0">
                <a:solidFill>
                  <a:schemeClr val="bg2"/>
                </a:solidFill>
                <a:latin typeface="Times New Roman"/>
                <a:ea typeface="Times New Roman"/>
                <a:cs typeface="Times New Roman"/>
                <a:sym typeface="Times New Roman"/>
              </a:rPr>
              <a:t> </a:t>
            </a:r>
            <a:endParaRPr b="1" dirty="0">
              <a:solidFill>
                <a:schemeClr val="bg2"/>
              </a:solidFill>
              <a:latin typeface="Times New Roman"/>
              <a:ea typeface="Times New Roman"/>
              <a:cs typeface="Times New Roman"/>
              <a:sym typeface="Times New Roman"/>
            </a:endParaRPr>
          </a:p>
          <a:p>
            <a:pPr marL="548640" indent="-548640" algn="just">
              <a:lnSpc>
                <a:spcPct val="100000"/>
              </a:lnSpc>
              <a:buNone/>
            </a:pPr>
            <a:r>
              <a:rPr lang="en-US" dirty="0">
                <a:solidFill>
                  <a:schemeClr val="bg2"/>
                </a:solidFill>
                <a:latin typeface="Times New Roman"/>
                <a:ea typeface="Times New Roman"/>
                <a:cs typeface="Times New Roman"/>
                <a:sym typeface="Times New Roman"/>
              </a:rPr>
              <a:t> </a:t>
            </a:r>
            <a:endParaRPr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616801" y="3472265"/>
            <a:ext cx="13554494" cy="1920461"/>
          </a:xfrm>
          <a:prstGeom prst="rect">
            <a:avLst/>
          </a:prstGeom>
          <a:noFill/>
          <a:ln>
            <a:noFill/>
          </a:ln>
        </p:spPr>
        <p:txBody>
          <a:bodyPr spcFirstLastPara="1" wrap="square" lIns="146280" tIns="73120" rIns="146280" bIns="73120" anchor="t" anchorCtr="0">
            <a:spAutoFit/>
          </a:bodyPr>
          <a:lstStyle/>
          <a:p>
            <a:pPr algn="ctr">
              <a:lnSpc>
                <a:spcPct val="90000"/>
              </a:lnSpc>
            </a:pPr>
            <a:r>
              <a:rPr lang="en-US" sz="12800" b="1" dirty="0">
                <a:solidFill>
                  <a:srgbClr val="FF0000"/>
                </a:solidFill>
                <a:latin typeface="Vladimir Script" panose="03050402040407070305" pitchFamily="66" charset="0"/>
                <a:ea typeface="Calibri" panose="020F0502020204030204" pitchFamily="34" charset="0"/>
                <a:cs typeface="Calibri" panose="020F0502020204030204" pitchFamily="34" charset="0"/>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616800" y="6317107"/>
            <a:ext cx="7315200" cy="1077218"/>
          </a:xfrm>
          <a:prstGeom prst="rect">
            <a:avLst/>
          </a:prstGeom>
          <a:noFill/>
        </p:spPr>
        <p:txBody>
          <a:bodyPr wrap="square">
            <a:spAutoFit/>
          </a:bodyPr>
          <a:lstStyle/>
          <a:p>
            <a:r>
              <a:rPr lang="en-US" sz="3200" dirty="0">
                <a:latin typeface="Calibri" panose="020F0502020204030204" pitchFamily="34" charset="0"/>
                <a:ea typeface="Calibri" panose="020F0502020204030204" pitchFamily="34" charset="0"/>
                <a:cs typeface="Calibri" panose="020F0502020204030204" pitchFamily="34" charset="0"/>
              </a:rPr>
              <a:t>For queries</a:t>
            </a:r>
          </a:p>
          <a:p>
            <a:r>
              <a:rPr lang="en-US" sz="3200" dirty="0">
                <a:latin typeface="Calibri" panose="020F0502020204030204" pitchFamily="34" charset="0"/>
                <a:ea typeface="Calibri" panose="020F0502020204030204" pitchFamily="34" charset="0"/>
                <a:cs typeface="Calibri" panose="020F0502020204030204" pitchFamily="34" charset="0"/>
              </a:rPr>
              <a:t>Email: Shivam.e16516@cumail.in</a:t>
            </a:r>
          </a:p>
        </p:txBody>
      </p:sp>
      <p:sp>
        <p:nvSpPr>
          <p:cNvPr id="5" name="TextBox 4"/>
          <p:cNvSpPr txBox="1"/>
          <p:nvPr/>
        </p:nvSpPr>
        <p:spPr>
          <a:xfrm>
            <a:off x="13775239" y="137580"/>
            <a:ext cx="505267" cy="437043"/>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240" dirty="0"/>
              <a:t>12</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2671</TotalTime>
  <Words>1292</Words>
  <Application>Microsoft Macintosh PowerPoint</Application>
  <PresentationFormat>Custom</PresentationFormat>
  <Paragraphs>137</Paragraphs>
  <Slides>12</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Cambria</vt:lpstr>
      <vt:lpstr>Times New Roman</vt:lpstr>
      <vt:lpstr>Lato</vt:lpstr>
      <vt:lpstr>Calibri</vt:lpstr>
      <vt:lpstr>Inter</vt:lpstr>
      <vt:lpstr>Inter Bold</vt:lpstr>
      <vt:lpstr>Vladimir Script</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Amit Chaudhary</cp:lastModifiedBy>
  <cp:revision>82</cp:revision>
  <dcterms:modified xsi:type="dcterms:W3CDTF">2025-07-03T15:17:27Z</dcterms:modified>
</cp:coreProperties>
</file>